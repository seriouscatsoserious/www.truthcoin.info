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57" r:id="rId4"/>
    <p:sldId id="259" r:id="rId5"/>
    <p:sldId id="263" r:id="rId6"/>
    <p:sldId id="265" r:id="rId7"/>
    <p:sldId id="266" r:id="rId8"/>
    <p:sldId id="267" r:id="rId9"/>
    <p:sldId id="268" r:id="rId10"/>
    <p:sldId id="269" r:id="rId11"/>
    <p:sldId id="270" r:id="rId12"/>
    <p:sldId id="271" r:id="rId13"/>
    <p:sldId id="272" r:id="rId14"/>
    <p:sldId id="277" r:id="rId15"/>
    <p:sldId id="273" r:id="rId16"/>
    <p:sldId id="274" r:id="rId17"/>
    <p:sldId id="261" r:id="rId18"/>
    <p:sldId id="264" r:id="rId19"/>
    <p:sldId id="260" r:id="rId20"/>
    <p:sldId id="275" r:id="rId21"/>
    <p:sldId id="262" r:id="rId22"/>
    <p:sldId id="276"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6" autoAdjust="0"/>
    <p:restoredTop sz="86441" autoAdjust="0"/>
  </p:normalViewPr>
  <p:slideViewPr>
    <p:cSldViewPr snapToGrid="0">
      <p:cViewPr varScale="1">
        <p:scale>
          <a:sx n="68" d="100"/>
          <a:sy n="68" d="100"/>
        </p:scale>
        <p:origin x="171" y="2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9A426-F2C8-4001-BB9A-B388975F4297}"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ABBA0-E19C-4BB2-A962-BD12BF99D94B}" type="slidenum">
              <a:rPr lang="en-US" smtClean="0"/>
              <a:t>‹#›</a:t>
            </a:fld>
            <a:endParaRPr lang="en-US"/>
          </a:p>
        </p:txBody>
      </p:sp>
    </p:spTree>
    <p:extLst>
      <p:ext uri="{BB962C8B-B14F-4D97-AF65-F5344CB8AC3E}">
        <p14:creationId xmlns:p14="http://schemas.microsoft.com/office/powerpoint/2010/main" val="2313022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mean, other than that Mrs. Lincoln, how did you like the play?</a:t>
            </a:r>
          </a:p>
        </p:txBody>
      </p:sp>
      <p:sp>
        <p:nvSpPr>
          <p:cNvPr id="4" name="Slide Number Placeholder 3"/>
          <p:cNvSpPr>
            <a:spLocks noGrp="1"/>
          </p:cNvSpPr>
          <p:nvPr>
            <p:ph type="sldNum" sz="quarter" idx="5"/>
          </p:nvPr>
        </p:nvSpPr>
        <p:spPr/>
        <p:txBody>
          <a:bodyPr/>
          <a:lstStyle/>
          <a:p>
            <a:fld id="{E36ABBA0-E19C-4BB2-A962-BD12BF99D94B}" type="slidenum">
              <a:rPr lang="en-US" smtClean="0"/>
              <a:t>3</a:t>
            </a:fld>
            <a:endParaRPr lang="en-US"/>
          </a:p>
        </p:txBody>
      </p:sp>
    </p:spTree>
    <p:extLst>
      <p:ext uri="{BB962C8B-B14F-4D97-AF65-F5344CB8AC3E}">
        <p14:creationId xmlns:p14="http://schemas.microsoft.com/office/powerpoint/2010/main" val="2738037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ABBA0-E19C-4BB2-A962-BD12BF99D94B}" type="slidenum">
              <a:rPr lang="en-US" smtClean="0"/>
              <a:t>4</a:t>
            </a:fld>
            <a:endParaRPr lang="en-US"/>
          </a:p>
        </p:txBody>
      </p:sp>
    </p:spTree>
    <p:extLst>
      <p:ext uri="{BB962C8B-B14F-4D97-AF65-F5344CB8AC3E}">
        <p14:creationId xmlns:p14="http://schemas.microsoft.com/office/powerpoint/2010/main" val="2727080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6AE84-5573-90A1-51EB-E3F4780077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F476A1-94D0-FA1F-C384-EB1284551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253213-B9F4-C787-EBB7-A594B2327501}"/>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64286324-EFBE-D8A0-3DA2-02DDD12A6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38158-F19A-527E-DE90-B6036966E797}"/>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1542791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1F2B-93CC-5927-F246-2A4017B0D0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91288E-20CC-919E-A056-B343303297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72F3F-AD53-AF9C-0335-B13F02E0D1E7}"/>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F939FB12-ABE0-855B-628A-1D7CAAB0F2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B6D49-08B3-59B9-6295-E7B80D084F6A}"/>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2701032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0CB6B-B0AA-5C5A-5D53-F7534D8C75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B38A49-BC48-92C6-6D7C-B0268AF858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E02D44-A2CA-7002-3656-5E992D00F020}"/>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ABD9DAE2-C4CE-07CF-EC7E-8B10AD6A10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AC21B-2AF9-AE20-DC49-38287107659D}"/>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683021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4D08-3205-24D9-BECA-BAC34049A4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B04EE2-6706-4D4B-8E11-AE4989FB0C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DCC44A-78FD-C793-1713-C835901A26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CE7EF2-C98A-C8B8-5698-55E4152725B3}"/>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6" name="Footer Placeholder 5">
            <a:extLst>
              <a:ext uri="{FF2B5EF4-FFF2-40B4-BE49-F238E27FC236}">
                <a16:creationId xmlns:a16="http://schemas.microsoft.com/office/drawing/2014/main" id="{5F5C8E2A-DF65-7A2A-6DC5-E05DBE16CD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EF1BDE-D375-48B9-563D-FC3CDE00A61D}"/>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3582366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5EA60-C93A-1455-8124-5F39B18110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AE10A2-7D05-8B2D-2CDE-F45926AFF1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324D72-D1C7-691C-75D7-2A6311A1F0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5EF984-9DFD-6252-0CB2-C96036EB98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A95181-8712-6FAC-B5F8-A4190EC0B7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895CF8-7A7C-14E2-AC24-A84C2D62C1D9}"/>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8" name="Footer Placeholder 7">
            <a:extLst>
              <a:ext uri="{FF2B5EF4-FFF2-40B4-BE49-F238E27FC236}">
                <a16:creationId xmlns:a16="http://schemas.microsoft.com/office/drawing/2014/main" id="{17E509C4-4C43-8BFB-A573-601ADE34FD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6FB1F7-DD44-8AE1-0C0F-A537DEA97C11}"/>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2058754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9768B-014F-3334-0A62-EA56E39B1F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6EE3AA-56F5-6D8E-851D-5CEBCF47FBEF}"/>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4" name="Footer Placeholder 3">
            <a:extLst>
              <a:ext uri="{FF2B5EF4-FFF2-40B4-BE49-F238E27FC236}">
                <a16:creationId xmlns:a16="http://schemas.microsoft.com/office/drawing/2014/main" id="{1664147B-E13B-0C31-18B9-D805662DC5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67BC06-1934-2709-08CE-E30372DD0F90}"/>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1943202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C1A0E7-2CD2-75E1-0016-2AB5BC9F14A8}"/>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3" name="Footer Placeholder 2">
            <a:extLst>
              <a:ext uri="{FF2B5EF4-FFF2-40B4-BE49-F238E27FC236}">
                <a16:creationId xmlns:a16="http://schemas.microsoft.com/office/drawing/2014/main" id="{F91FC014-AAE7-801A-C9C7-C7CE65AE7A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45D466-4B0C-05E6-B0D8-02791DC51797}"/>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3020583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F3C9A-0C6F-1F88-4347-33DAF16F0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94F946-5542-F0DC-9C99-22123E8B2B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8D31DE-D866-0D30-A31A-9743285D1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F6AFA-3150-2238-6228-83022EBD1561}"/>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6" name="Footer Placeholder 5">
            <a:extLst>
              <a:ext uri="{FF2B5EF4-FFF2-40B4-BE49-F238E27FC236}">
                <a16:creationId xmlns:a16="http://schemas.microsoft.com/office/drawing/2014/main" id="{759A4A9C-05B6-A941-1043-349455F190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A7100-E6C3-63C7-E322-E2E40FE3FC78}"/>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2042411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8747-211F-8FE2-CF90-FD5A153B9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61EF77-1672-FEB7-091F-B622AABCB1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18AAAA-E21D-DD4A-19B4-042A80D90A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77332D-8B54-9AAB-5C26-5D6449D676FB}"/>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6" name="Footer Placeholder 5">
            <a:extLst>
              <a:ext uri="{FF2B5EF4-FFF2-40B4-BE49-F238E27FC236}">
                <a16:creationId xmlns:a16="http://schemas.microsoft.com/office/drawing/2014/main" id="{DDDDDD6F-3F90-0514-21E3-1FC277702A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89ABD-6D7C-655D-9D44-04C645526E5B}"/>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2491818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AFA8-C41A-1A9C-F923-9FDEFA9D04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C6F8C2-16AF-9686-70F6-7C33CDF3AD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67D38-B704-EE22-539A-5EA0620A6C95}"/>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2ADB40C9-7D14-5531-36B7-0422C6DCDD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0EB61-8178-0660-064F-2731DBBD0E97}"/>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2919702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74FBF7-EBE3-621D-E0EB-A54BC09856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ADC44E-CDA0-1EE1-55D3-582E655845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B9B68-2F02-AA5A-980D-68EADC39832B}"/>
              </a:ext>
            </a:extLst>
          </p:cNvPr>
          <p:cNvSpPr>
            <a:spLocks noGrp="1"/>
          </p:cNvSpPr>
          <p:nvPr>
            <p:ph type="dt" sz="half" idx="10"/>
          </p:nvPr>
        </p:nvSpPr>
        <p:spPr/>
        <p:txBody>
          <a:body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94EF0D98-D6A2-7EC7-F935-B2845AA1C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D7A31-B5A3-99C6-59EE-98BCD7943A35}"/>
              </a:ext>
            </a:extLst>
          </p:cNvPr>
          <p:cNvSpPr>
            <a:spLocks noGrp="1"/>
          </p:cNvSpPr>
          <p:nvPr>
            <p:ph type="sldNum" sz="quarter" idx="12"/>
          </p:nvPr>
        </p:nvSpPr>
        <p:spPr/>
        <p:txBody>
          <a:bodyPr/>
          <a:lstStyle/>
          <a:p>
            <a:fld id="{74333301-5B0F-4ACD-9A48-8F8BD4CFB233}" type="slidenum">
              <a:rPr lang="en-US" smtClean="0"/>
              <a:t>‹#›</a:t>
            </a:fld>
            <a:endParaRPr lang="en-US"/>
          </a:p>
        </p:txBody>
      </p:sp>
    </p:spTree>
    <p:extLst>
      <p:ext uri="{BB962C8B-B14F-4D97-AF65-F5344CB8AC3E}">
        <p14:creationId xmlns:p14="http://schemas.microsoft.com/office/powerpoint/2010/main" val="59041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40D609-0741-929C-5911-2BD29CF17A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A33C7F-5B24-6C92-F29A-6F77C21562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7D36D-4258-CD39-51A4-995EE22AAF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D90535-F860-4BA9-AC8E-317B62C17C8F}" type="datetimeFigureOut">
              <a:rPr lang="en-US" smtClean="0"/>
              <a:t>10/15/2025</a:t>
            </a:fld>
            <a:endParaRPr lang="en-US"/>
          </a:p>
        </p:txBody>
      </p:sp>
      <p:sp>
        <p:nvSpPr>
          <p:cNvPr id="5" name="Footer Placeholder 4">
            <a:extLst>
              <a:ext uri="{FF2B5EF4-FFF2-40B4-BE49-F238E27FC236}">
                <a16:creationId xmlns:a16="http://schemas.microsoft.com/office/drawing/2014/main" id="{9B5A8693-3683-131D-EF69-8265B3D8A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629A1F-C872-5DCC-461F-F0F4249C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333301-5B0F-4ACD-9A48-8F8BD4CFB233}" type="slidenum">
              <a:rPr lang="en-US" smtClean="0"/>
              <a:t>‹#›</a:t>
            </a:fld>
            <a:endParaRPr lang="en-US"/>
          </a:p>
        </p:txBody>
      </p:sp>
    </p:spTree>
    <p:extLst>
      <p:ext uri="{BB962C8B-B14F-4D97-AF65-F5344CB8AC3E}">
        <p14:creationId xmlns:p14="http://schemas.microsoft.com/office/powerpoint/2010/main" val="2744256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15A3CD-1981-CD17-24EE-4B292CFEB61C}"/>
              </a:ext>
            </a:extLst>
          </p:cNvPr>
          <p:cNvPicPr>
            <a:picLocks noChangeAspect="1"/>
          </p:cNvPicPr>
          <p:nvPr/>
        </p:nvPicPr>
        <p:blipFill rotWithShape="1">
          <a:blip r:embed="rId2">
            <a:lum bright="70000" contrast="-70000"/>
            <a:extLst>
              <a:ext uri="{BEBA8EAE-BF5A-486C-A8C5-ECC9F3942E4B}">
                <a14:imgProps xmlns:a14="http://schemas.microsoft.com/office/drawing/2010/main">
                  <a14:imgLayer r:embed="rId3">
                    <a14:imgEffect>
                      <a14:artisticPencilSketch/>
                    </a14:imgEffect>
                  </a14:imgLayer>
                </a14:imgProps>
              </a:ext>
            </a:extLst>
          </a:blip>
          <a:srcRect b="9444"/>
          <a:stretch>
            <a:fillRect/>
          </a:stretch>
        </p:blipFill>
        <p:spPr>
          <a:xfrm>
            <a:off x="424375" y="168950"/>
            <a:ext cx="11479901" cy="6541610"/>
          </a:xfrm>
          <a:prstGeom prst="rect">
            <a:avLst/>
          </a:prstGeom>
          <a:ln>
            <a:solidFill>
              <a:schemeClr val="tx1"/>
            </a:solidFill>
          </a:ln>
        </p:spPr>
      </p:pic>
      <p:sp>
        <p:nvSpPr>
          <p:cNvPr id="2" name="Title 1">
            <a:extLst>
              <a:ext uri="{FF2B5EF4-FFF2-40B4-BE49-F238E27FC236}">
                <a16:creationId xmlns:a16="http://schemas.microsoft.com/office/drawing/2014/main" id="{648A0B1E-8992-030B-8081-FC346D01F07A}"/>
              </a:ext>
            </a:extLst>
          </p:cNvPr>
          <p:cNvSpPr>
            <a:spLocks noGrp="1"/>
          </p:cNvSpPr>
          <p:nvPr>
            <p:ph type="ctrTitle"/>
          </p:nvPr>
        </p:nvSpPr>
        <p:spPr>
          <a:xfrm>
            <a:off x="983506" y="1153887"/>
            <a:ext cx="10361637" cy="1118898"/>
          </a:xfrm>
          <a:solidFill>
            <a:srgbClr val="FFFFFF">
              <a:alpha val="30980"/>
            </a:srgbClr>
          </a:solidFill>
        </p:spPr>
        <p:txBody>
          <a:bodyPr>
            <a:noAutofit/>
          </a:bodyPr>
          <a:lstStyle/>
          <a:p>
            <a:r>
              <a:rPr lang="en-US" sz="7200" dirty="0"/>
              <a:t>The Case Against Lightning</a:t>
            </a:r>
          </a:p>
        </p:txBody>
      </p:sp>
      <p:sp>
        <p:nvSpPr>
          <p:cNvPr id="3" name="Subtitle 2">
            <a:extLst>
              <a:ext uri="{FF2B5EF4-FFF2-40B4-BE49-F238E27FC236}">
                <a16:creationId xmlns:a16="http://schemas.microsoft.com/office/drawing/2014/main" id="{D260AEFB-3482-67DD-4E88-87ACE7DCDABA}"/>
              </a:ext>
            </a:extLst>
          </p:cNvPr>
          <p:cNvSpPr>
            <a:spLocks noGrp="1"/>
          </p:cNvSpPr>
          <p:nvPr>
            <p:ph type="subTitle" idx="1"/>
          </p:nvPr>
        </p:nvSpPr>
        <p:spPr>
          <a:xfrm>
            <a:off x="2603416" y="3953750"/>
            <a:ext cx="6854539" cy="2271932"/>
          </a:xfrm>
          <a:solidFill>
            <a:srgbClr val="FFFFFF">
              <a:alpha val="30980"/>
            </a:srgbClr>
          </a:solidFill>
        </p:spPr>
        <p:txBody>
          <a:bodyPr>
            <a:normAutofit/>
          </a:bodyPr>
          <a:lstStyle/>
          <a:p>
            <a:r>
              <a:rPr lang="en-US" sz="2800" dirty="0"/>
              <a:t>Paul Sztorc – CEO LayerTwo Labs</a:t>
            </a:r>
          </a:p>
          <a:p>
            <a:r>
              <a:rPr lang="en-US" u="sng" dirty="0"/>
              <a:t>@truthcoin</a:t>
            </a:r>
            <a:r>
              <a:rPr lang="en-US" dirty="0"/>
              <a:t> on X | </a:t>
            </a:r>
            <a:r>
              <a:rPr lang="en-US" u="sng" dirty="0"/>
              <a:t>@psztorc</a:t>
            </a:r>
            <a:r>
              <a:rPr lang="en-US" dirty="0"/>
              <a:t> on Telegram</a:t>
            </a:r>
            <a:br>
              <a:rPr lang="en-US" dirty="0"/>
            </a:br>
            <a:r>
              <a:rPr lang="en-US" dirty="0"/>
              <a:t>truthcoin.info | drivechain.info | LayerTwoLabs.com</a:t>
            </a:r>
            <a:br>
              <a:rPr lang="en-US" dirty="0"/>
            </a:br>
            <a:br>
              <a:rPr lang="en-US" dirty="0"/>
            </a:br>
            <a:r>
              <a:rPr lang="en-US" sz="2800" dirty="0" err="1"/>
              <a:t>TabConf</a:t>
            </a:r>
            <a:r>
              <a:rPr lang="en-US" sz="2800" dirty="0"/>
              <a:t> – Oct 15, 2025 – (12:30 – 1:30 PM)</a:t>
            </a:r>
          </a:p>
        </p:txBody>
      </p:sp>
      <p:sp>
        <p:nvSpPr>
          <p:cNvPr id="5" name="TextBox 4">
            <a:extLst>
              <a:ext uri="{FF2B5EF4-FFF2-40B4-BE49-F238E27FC236}">
                <a16:creationId xmlns:a16="http://schemas.microsoft.com/office/drawing/2014/main" id="{7F463401-E1EF-4A0C-57CD-BBBA5ACE2B8B}"/>
              </a:ext>
            </a:extLst>
          </p:cNvPr>
          <p:cNvSpPr txBox="1"/>
          <p:nvPr/>
        </p:nvSpPr>
        <p:spPr>
          <a:xfrm>
            <a:off x="3048587" y="2844573"/>
            <a:ext cx="6094826" cy="769441"/>
          </a:xfrm>
          <a:prstGeom prst="rect">
            <a:avLst/>
          </a:prstGeom>
          <a:solidFill>
            <a:srgbClr val="FFFFFF">
              <a:alpha val="30980"/>
            </a:srgbClr>
          </a:solidFill>
        </p:spPr>
        <p:txBody>
          <a:bodyPr wrap="square">
            <a:spAutoFit/>
          </a:bodyPr>
          <a:lstStyle/>
          <a:p>
            <a:pPr algn="ctr"/>
            <a:r>
              <a:rPr lang="en-US" sz="4400" dirty="0"/>
              <a:t>Short talk + Long Q&amp;A</a:t>
            </a:r>
          </a:p>
        </p:txBody>
      </p:sp>
    </p:spTree>
    <p:extLst>
      <p:ext uri="{BB962C8B-B14F-4D97-AF65-F5344CB8AC3E}">
        <p14:creationId xmlns:p14="http://schemas.microsoft.com/office/powerpoint/2010/main" val="3718359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4A500-83A3-F10F-1BCF-46648ACC1C3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82D86921-3F40-509E-4658-4CC955638807}"/>
              </a:ext>
            </a:extLst>
          </p:cNvPr>
          <p:cNvSpPr>
            <a:spLocks noGrp="1"/>
          </p:cNvSpPr>
          <p:nvPr>
            <p:ph idx="1"/>
          </p:nvPr>
        </p:nvSpPr>
        <p:spPr>
          <a:xfrm>
            <a:off x="838200" y="1603717"/>
            <a:ext cx="10515600" cy="4573246"/>
          </a:xfrm>
        </p:spPr>
        <p:txBody>
          <a:bodyPr/>
          <a:lstStyle/>
          <a:p>
            <a:pPr marL="0" indent="0">
              <a:buNone/>
            </a:pPr>
            <a:r>
              <a:rPr lang="en-US" b="1" u="sng" dirty="0"/>
              <a:t>Thesis:</a:t>
            </a:r>
            <a:r>
              <a:rPr lang="en-US" b="1" dirty="0"/>
              <a:t> Lightning is a waste of time (and money).</a:t>
            </a:r>
          </a:p>
          <a:p>
            <a:pPr marL="0" indent="0">
              <a:buNone/>
            </a:pPr>
            <a:r>
              <a:rPr lang="en-US" dirty="0"/>
              <a:t>People will regret associating with it.</a:t>
            </a:r>
          </a:p>
          <a:p>
            <a:pPr marL="0" indent="0">
              <a:buNone/>
            </a:pPr>
            <a:endParaRPr lang="en-US" dirty="0"/>
          </a:p>
          <a:p>
            <a:pPr marL="0" indent="0">
              <a:buNone/>
            </a:pPr>
            <a:r>
              <a:rPr lang="en-US" b="1" dirty="0"/>
              <a:t>Talk: (15 minutes)</a:t>
            </a:r>
          </a:p>
          <a:p>
            <a:pPr marL="0" indent="0">
              <a:buNone/>
            </a:pPr>
            <a:r>
              <a:rPr lang="en-US" dirty="0"/>
              <a:t> - Just a review of everything I’ve said since 2022</a:t>
            </a:r>
          </a:p>
          <a:p>
            <a:pPr marL="0" indent="0">
              <a:buNone/>
            </a:pPr>
            <a:endParaRPr lang="en-US" dirty="0"/>
          </a:p>
          <a:p>
            <a:pPr marL="0" indent="0">
              <a:buNone/>
            </a:pPr>
            <a:r>
              <a:rPr lang="en-US" b="1" dirty="0"/>
              <a:t>Q&amp;A: (45 minutes)</a:t>
            </a:r>
          </a:p>
          <a:p>
            <a:pPr marL="0" indent="0">
              <a:buNone/>
            </a:pPr>
            <a:r>
              <a:rPr lang="en-US" dirty="0"/>
              <a:t> - Take your best shot!</a:t>
            </a:r>
          </a:p>
        </p:txBody>
      </p:sp>
    </p:spTree>
    <p:extLst>
      <p:ext uri="{BB962C8B-B14F-4D97-AF65-F5344CB8AC3E}">
        <p14:creationId xmlns:p14="http://schemas.microsoft.com/office/powerpoint/2010/main" val="330080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6A16F-A632-B4F2-F79C-2AE068A55BDA}"/>
              </a:ext>
            </a:extLst>
          </p:cNvPr>
          <p:cNvSpPr>
            <a:spLocks noGrp="1"/>
          </p:cNvSpPr>
          <p:nvPr>
            <p:ph type="title"/>
          </p:nvPr>
        </p:nvSpPr>
        <p:spPr>
          <a:xfrm>
            <a:off x="134815" y="-129809"/>
            <a:ext cx="10515600" cy="1325563"/>
          </a:xfrm>
        </p:spPr>
        <p:txBody>
          <a:bodyPr/>
          <a:lstStyle/>
          <a:p>
            <a:r>
              <a:rPr lang="en-US" dirty="0"/>
              <a:t>In A Nutshell</a:t>
            </a:r>
          </a:p>
        </p:txBody>
      </p:sp>
      <p:sp>
        <p:nvSpPr>
          <p:cNvPr id="3" name="Content Placeholder 2">
            <a:extLst>
              <a:ext uri="{FF2B5EF4-FFF2-40B4-BE49-F238E27FC236}">
                <a16:creationId xmlns:a16="http://schemas.microsoft.com/office/drawing/2014/main" id="{30AEAA70-F15B-4BE9-0185-88B7F464A603}"/>
              </a:ext>
            </a:extLst>
          </p:cNvPr>
          <p:cNvSpPr>
            <a:spLocks noGrp="1"/>
          </p:cNvSpPr>
          <p:nvPr>
            <p:ph idx="1"/>
          </p:nvPr>
        </p:nvSpPr>
        <p:spPr>
          <a:xfrm>
            <a:off x="229773" y="959841"/>
            <a:ext cx="11732454" cy="5598942"/>
          </a:xfrm>
        </p:spPr>
        <p:txBody>
          <a:bodyPr>
            <a:normAutofit fontScale="70000" lnSpcReduction="20000"/>
          </a:bodyPr>
          <a:lstStyle/>
          <a:p>
            <a:r>
              <a:rPr lang="en-US" b="1" dirty="0"/>
              <a:t>The “channels” idea is fundamentally unworkable.</a:t>
            </a:r>
          </a:p>
          <a:p>
            <a:pPr lvl="1"/>
            <a:r>
              <a:rPr lang="en-US" dirty="0"/>
              <a:t>There is not enough blockspace (on L1) for even 1% of the Earth’s population to use Bitcoin via Lightning.</a:t>
            </a:r>
          </a:p>
          <a:p>
            <a:pPr lvl="1"/>
            <a:r>
              <a:rPr lang="en-US" dirty="0"/>
              <a:t>The “Channels” themselves are difficult to operate and maintain. They offer a poor UX and are unreliable in practice.</a:t>
            </a:r>
          </a:p>
          <a:p>
            <a:pPr lvl="1"/>
            <a:r>
              <a:rPr lang="en-US" dirty="0"/>
              <a:t>It matter who you open a channel with – this steers the idea toward “brands” – and away from </a:t>
            </a:r>
            <a:r>
              <a:rPr lang="en-US" dirty="0" err="1"/>
              <a:t>cypherpunkism</a:t>
            </a:r>
            <a:r>
              <a:rPr lang="en-US" dirty="0"/>
              <a:t>.</a:t>
            </a:r>
          </a:p>
          <a:p>
            <a:pPr lvl="1"/>
            <a:r>
              <a:rPr lang="en-US" dirty="0"/>
              <a:t>The cost/benefit ratio does not meet the required standard.</a:t>
            </a:r>
          </a:p>
          <a:p>
            <a:r>
              <a:rPr lang="en-US" b="1" dirty="0"/>
              <a:t>Demonstrations of it “worked” are rooted in misunderstanding.</a:t>
            </a:r>
          </a:p>
          <a:p>
            <a:pPr lvl="1"/>
            <a:r>
              <a:rPr lang="en-US" dirty="0"/>
              <a:t>Most testimony comes from laypeople (easily duped, and their testimony is worthless).</a:t>
            </a:r>
          </a:p>
          <a:p>
            <a:pPr lvl="1"/>
            <a:r>
              <a:rPr lang="en-US" dirty="0"/>
              <a:t>Payment networks have network effects (ie, “Venmo me”) – so scaling to 8 billion is mandatory (for LN).</a:t>
            </a:r>
          </a:p>
          <a:p>
            <a:r>
              <a:rPr lang="en-US" b="1" dirty="0"/>
              <a:t>Lightning insiders are already abandoning it.</a:t>
            </a:r>
          </a:p>
          <a:p>
            <a:pPr lvl="1"/>
            <a:r>
              <a:rPr lang="en-US" dirty="0"/>
              <a:t>Quotes from experts, especially Burak (the creator of ARK).</a:t>
            </a:r>
          </a:p>
          <a:p>
            <a:pPr lvl="1"/>
            <a:r>
              <a:rPr lang="en-US" dirty="0"/>
              <a:t>From Lightning to Covenants.</a:t>
            </a:r>
          </a:p>
          <a:p>
            <a:pPr lvl="1"/>
            <a:r>
              <a:rPr lang="en-US" dirty="0"/>
              <a:t>The stragglers are fools (or dupes) who have no idea what they are shilling.</a:t>
            </a:r>
          </a:p>
          <a:p>
            <a:r>
              <a:rPr lang="en-US" b="1" dirty="0"/>
              <a:t>The hype of lightning is mostly rooted in deception (and self-deception).</a:t>
            </a:r>
          </a:p>
          <a:p>
            <a:pPr lvl="1"/>
            <a:r>
              <a:rPr lang="en-US" dirty="0"/>
              <a:t>Lightning was born out of Blocksize War politics, and never left.</a:t>
            </a:r>
          </a:p>
          <a:p>
            <a:pPr lvl="1"/>
            <a:r>
              <a:rPr lang="en-US" dirty="0"/>
              <a:t>The cultural relevance of lightning is rooted in peer pressure / conformity / emotion – it is a cult, not a scientific idea.</a:t>
            </a:r>
          </a:p>
          <a:p>
            <a:pPr lvl="1"/>
            <a:r>
              <a:rPr lang="en-US" dirty="0"/>
              <a:t>Lightning has skillfully evaded and suppressed criticism, in ways that make “</a:t>
            </a:r>
            <a:r>
              <a:rPr lang="en-US" dirty="0" err="1"/>
              <a:t>Shitcoins</a:t>
            </a:r>
            <a:r>
              <a:rPr lang="en-US" dirty="0"/>
              <a:t>” look honorable by comparison.</a:t>
            </a:r>
          </a:p>
          <a:p>
            <a:r>
              <a:rPr lang="en-US" b="1" dirty="0"/>
              <a:t>Lightning creates a “developer grift”.</a:t>
            </a:r>
          </a:p>
          <a:p>
            <a:pPr lvl="1"/>
            <a:r>
              <a:rPr lang="en-US" dirty="0"/>
              <a:t>A parallel “prestige world” where developers use technobabble to impress gullible investors, and take their money.</a:t>
            </a:r>
          </a:p>
          <a:p>
            <a:pPr lvl="1"/>
            <a:r>
              <a:rPr lang="en-US" dirty="0"/>
              <a:t>The arcane vocabulary is just another tool for muddying the waters and painting Lightning with an illusion of respectability.</a:t>
            </a:r>
          </a:p>
          <a:p>
            <a:r>
              <a:rPr lang="en-US" b="1" dirty="0"/>
              <a:t>Lightning damages Bitcoin – by “crowding out” good ideas.</a:t>
            </a:r>
          </a:p>
        </p:txBody>
      </p:sp>
    </p:spTree>
    <p:extLst>
      <p:ext uri="{BB962C8B-B14F-4D97-AF65-F5344CB8AC3E}">
        <p14:creationId xmlns:p14="http://schemas.microsoft.com/office/powerpoint/2010/main" val="4257096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A80E5-3740-4D83-7986-652AE4E71460}"/>
              </a:ext>
            </a:extLst>
          </p:cNvPr>
          <p:cNvSpPr>
            <a:spLocks noGrp="1"/>
          </p:cNvSpPr>
          <p:nvPr>
            <p:ph type="title"/>
          </p:nvPr>
        </p:nvSpPr>
        <p:spPr>
          <a:xfrm>
            <a:off x="64477" y="18256"/>
            <a:ext cx="5102609" cy="714716"/>
          </a:xfrm>
        </p:spPr>
        <p:txBody>
          <a:bodyPr>
            <a:normAutofit fontScale="90000"/>
          </a:bodyPr>
          <a:lstStyle/>
          <a:p>
            <a:r>
              <a:rPr lang="en-US" dirty="0"/>
              <a:t>My Lightning Timeline</a:t>
            </a:r>
          </a:p>
        </p:txBody>
      </p:sp>
      <p:sp>
        <p:nvSpPr>
          <p:cNvPr id="3" name="Content Placeholder 2">
            <a:extLst>
              <a:ext uri="{FF2B5EF4-FFF2-40B4-BE49-F238E27FC236}">
                <a16:creationId xmlns:a16="http://schemas.microsoft.com/office/drawing/2014/main" id="{B3236E40-E4DA-8D93-799B-3ECC84B25AC9}"/>
              </a:ext>
            </a:extLst>
          </p:cNvPr>
          <p:cNvSpPr>
            <a:spLocks noGrp="1"/>
          </p:cNvSpPr>
          <p:nvPr>
            <p:ph idx="1"/>
          </p:nvPr>
        </p:nvSpPr>
        <p:spPr>
          <a:xfrm>
            <a:off x="141514" y="660400"/>
            <a:ext cx="11908971" cy="6088743"/>
          </a:xfrm>
        </p:spPr>
        <p:txBody>
          <a:bodyPr>
            <a:normAutofit fontScale="62500" lnSpcReduction="20000"/>
          </a:bodyPr>
          <a:lstStyle/>
          <a:p>
            <a:r>
              <a:rPr lang="en-US" b="1" dirty="0"/>
              <a:t>May 2015 </a:t>
            </a:r>
            <a:r>
              <a:rPr lang="en-US" dirty="0"/>
              <a:t>– </a:t>
            </a:r>
            <a:r>
              <a:rPr lang="en-US" dirty="0" err="1"/>
              <a:t>Tadge</a:t>
            </a:r>
            <a:r>
              <a:rPr lang="en-US" dirty="0"/>
              <a:t> / Joseph SF Bitcoin Meetup LN Presentation – I watched it on </a:t>
            </a:r>
            <a:r>
              <a:rPr lang="en-US" dirty="0" err="1"/>
              <a:t>Youtube</a:t>
            </a:r>
            <a:r>
              <a:rPr lang="en-US" dirty="0"/>
              <a:t>. Over this year, there would be thousands of reddit posts (pro and anti lightning) – yet, this one video never had more than 350 views (at that time). </a:t>
            </a:r>
            <a:r>
              <a:rPr lang="en-US" b="1" dirty="0"/>
              <a:t>The people who argue about lightning, don’t know about lightning.</a:t>
            </a:r>
            <a:endParaRPr lang="en-US" dirty="0"/>
          </a:p>
          <a:p>
            <a:r>
              <a:rPr lang="en-US" b="1" dirty="0"/>
              <a:t>Dec 2015 </a:t>
            </a:r>
            <a:r>
              <a:rPr lang="en-US" dirty="0"/>
              <a:t>– Scaling II in Hong Kong – wide agreement that Lightning is the thing to try. ( + soft forks, + scaling in layers ). </a:t>
            </a:r>
            <a:r>
              <a:rPr lang="en-US" b="1" dirty="0"/>
              <a:t>Mar 2016 </a:t>
            </a:r>
            <a:r>
              <a:rPr lang="en-US" dirty="0"/>
              <a:t>– I research the technology, and post a variant: “Lightning Network for Hivemind” (P2P oracle + prediction market thing – basically </a:t>
            </a:r>
            <a:r>
              <a:rPr lang="en-US" dirty="0" err="1"/>
              <a:t>PolyMarket</a:t>
            </a:r>
            <a:r>
              <a:rPr lang="en-US" dirty="0"/>
              <a:t> on Bitcoin). </a:t>
            </a:r>
            <a:r>
              <a:rPr lang="en-US" b="1" dirty="0"/>
              <a:t>I knew exactly how Lightning Worked, in 2016.</a:t>
            </a:r>
          </a:p>
          <a:p>
            <a:r>
              <a:rPr lang="en-US" b="1" dirty="0"/>
              <a:t>Feb 2019 </a:t>
            </a:r>
            <a:r>
              <a:rPr lang="en-US" dirty="0"/>
              <a:t>– Bitcoin Meetup in Mexico – </a:t>
            </a:r>
            <a:r>
              <a:rPr lang="en-US" i="1" u="sng" dirty="0"/>
              <a:t>everyone</a:t>
            </a:r>
            <a:r>
              <a:rPr lang="en-US" dirty="0"/>
              <a:t> is thrilled by a new “Lightning Wallet” (</a:t>
            </a:r>
            <a:r>
              <a:rPr lang="en-US" dirty="0" err="1"/>
              <a:t>BlueWallet</a:t>
            </a:r>
            <a:r>
              <a:rPr lang="en-US" dirty="0"/>
              <a:t>) – I download it and instantly receive 8 </a:t>
            </a:r>
            <a:r>
              <a:rPr lang="en-US" dirty="0" err="1"/>
              <a:t>satoshis</a:t>
            </a:r>
            <a:r>
              <a:rPr lang="en-US" dirty="0"/>
              <a:t> from the person next to me – I ask “is it custodial?” – this room (full of 25 people) has no idea what I’m even talking about. </a:t>
            </a:r>
            <a:r>
              <a:rPr lang="en-US" b="1" dirty="0"/>
              <a:t>All lightning supporters are dupes.</a:t>
            </a:r>
            <a:endParaRPr lang="en-US" dirty="0"/>
          </a:p>
          <a:p>
            <a:r>
              <a:rPr lang="en-US" b="1" dirty="0"/>
              <a:t>Feb 2022 </a:t>
            </a:r>
            <a:r>
              <a:rPr lang="en-US" dirty="0"/>
              <a:t>– On bitcoin-dev, “</a:t>
            </a:r>
            <a:r>
              <a:rPr lang="en-US" dirty="0" err="1"/>
              <a:t>ZmnSCPxj</a:t>
            </a:r>
            <a:r>
              <a:rPr lang="en-US" dirty="0"/>
              <a:t>” incorrectly says that L2 blockchains don’t scale, because “you have to show your transaction to everyone” (both false and irrelevant). I point out that you must “show everyone” an LN channel open txn, and there is not enough space. – No Response – </a:t>
            </a:r>
            <a:r>
              <a:rPr lang="en-US" b="1" dirty="0"/>
              <a:t>April 2022</a:t>
            </a:r>
            <a:r>
              <a:rPr lang="en-US" dirty="0"/>
              <a:t> – I publish “Lightning Network: Fundamental Limitations” – It is a bullet point at the large Miami </a:t>
            </a:r>
            <a:r>
              <a:rPr lang="en-US" dirty="0" err="1"/>
              <a:t>BitDevs</a:t>
            </a:r>
            <a:r>
              <a:rPr lang="en-US" dirty="0"/>
              <a:t> (coincident with the large conference), but again there is </a:t>
            </a:r>
            <a:r>
              <a:rPr lang="en-US" i="1" u="sng" dirty="0"/>
              <a:t>no response</a:t>
            </a:r>
            <a:r>
              <a:rPr lang="en-US" dirty="0"/>
              <a:t>. In fact, two high-level lightning engineers, messaged me to say “until I read your 2022 article, I didn’t realize how lightning works”.</a:t>
            </a:r>
            <a:r>
              <a:rPr lang="en-US" i="1" dirty="0"/>
              <a:t> </a:t>
            </a:r>
            <a:r>
              <a:rPr lang="en-US" b="1" dirty="0"/>
              <a:t>Even the “experts” / mailing list crowd, cannot show us how the Lightning Network might work, at scale.</a:t>
            </a:r>
          </a:p>
          <a:p>
            <a:r>
              <a:rPr lang="en-US" b="1" dirty="0"/>
              <a:t>Late 2022 </a:t>
            </a:r>
            <a:r>
              <a:rPr lang="en-US" dirty="0"/>
              <a:t>– While doing fundraising for L2L I had one solitary slide (of like 60) about how LN doesn’t work and we deserve better. People often reacted badly to this slide and suggested I take it out. </a:t>
            </a:r>
            <a:r>
              <a:rPr lang="en-US" b="1" dirty="0"/>
              <a:t>Telling the truth about LN will hurt your career.</a:t>
            </a:r>
            <a:endParaRPr lang="en-US" dirty="0"/>
          </a:p>
          <a:p>
            <a:r>
              <a:rPr lang="en-US" b="1" dirty="0"/>
              <a:t>June 2023 – </a:t>
            </a:r>
            <a:r>
              <a:rPr lang="en-US" dirty="0"/>
              <a:t>Burak (who crashed the entire public LN for fun a few times), inventing ARK – “I’ve always been a big critic of Lightning. I had severe objections, right? ..from inbound liquidity, to inbound receiving interactivity … I wanted [with ARK] to address the inbound liquidity problem, but I really couldn’t find a cure for it. … I fail to see Lightning scaling.” </a:t>
            </a:r>
            <a:r>
              <a:rPr lang="en-US" b="1" dirty="0"/>
              <a:t>April 2023</a:t>
            </a:r>
            <a:r>
              <a:rPr lang="en-US" dirty="0"/>
              <a:t> – a very big LN name, pulls me aside in the hallway and complains “If I try to present honestly about problems at Lightning Conferences, then I get disinvited.” – </a:t>
            </a:r>
            <a:r>
              <a:rPr lang="en-US" b="1" dirty="0"/>
              <a:t>Mar 2024</a:t>
            </a:r>
            <a:r>
              <a:rPr lang="en-US" dirty="0"/>
              <a:t> – I collect </a:t>
            </a:r>
            <a:r>
              <a:rPr lang="en-US" i="1" u="sng" dirty="0"/>
              <a:t>many</a:t>
            </a:r>
            <a:r>
              <a:rPr lang="en-US" dirty="0"/>
              <a:t> quotes and publish “the LN </a:t>
            </a:r>
            <a:r>
              <a:rPr lang="en-US" dirty="0" err="1"/>
              <a:t>Blackpill</a:t>
            </a:r>
            <a:r>
              <a:rPr lang="en-US" dirty="0"/>
              <a:t>” – again </a:t>
            </a:r>
            <a:r>
              <a:rPr lang="en-US" i="1" u="sng" dirty="0"/>
              <a:t>no response</a:t>
            </a:r>
            <a:r>
              <a:rPr lang="en-US" dirty="0"/>
              <a:t>. </a:t>
            </a:r>
            <a:r>
              <a:rPr lang="en-US" b="1" dirty="0"/>
              <a:t>The experts all know Lightning is doomed and are covering it up.</a:t>
            </a:r>
            <a:endParaRPr lang="en-US" dirty="0"/>
          </a:p>
          <a:p>
            <a:r>
              <a:rPr lang="en-US" b="1" dirty="0"/>
              <a:t>June 2025 </a:t>
            </a:r>
            <a:r>
              <a:rPr lang="en-US" dirty="0"/>
              <a:t>– I “debate” Alex Gladstein – his argument for lightning boiled down to “I have an email from someone in Keyna who says they used it once” – I “debate” Harsha Goli, he basically says “the hype is more important than the technology” and when pressed about technical issues says “take it to the mailing list” – unaware that I already did that 3.5 years before. </a:t>
            </a:r>
            <a:r>
              <a:rPr lang="en-US" b="1" dirty="0"/>
              <a:t>I’m an idiot for even still talking about LN. I should just move on.</a:t>
            </a:r>
          </a:p>
        </p:txBody>
      </p:sp>
    </p:spTree>
    <p:extLst>
      <p:ext uri="{BB962C8B-B14F-4D97-AF65-F5344CB8AC3E}">
        <p14:creationId xmlns:p14="http://schemas.microsoft.com/office/powerpoint/2010/main" val="2739895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A5A8D-5375-C738-F762-E59BC01FF44A}"/>
              </a:ext>
            </a:extLst>
          </p:cNvPr>
          <p:cNvSpPr>
            <a:spLocks noGrp="1"/>
          </p:cNvSpPr>
          <p:nvPr>
            <p:ph type="title"/>
          </p:nvPr>
        </p:nvSpPr>
        <p:spPr>
          <a:xfrm>
            <a:off x="438150" y="292099"/>
            <a:ext cx="4486275" cy="777875"/>
          </a:xfrm>
        </p:spPr>
        <p:txBody>
          <a:bodyPr/>
          <a:lstStyle/>
          <a:p>
            <a:r>
              <a:rPr lang="en-US" dirty="0"/>
              <a:t>What is Lightning?</a:t>
            </a:r>
          </a:p>
        </p:txBody>
      </p:sp>
      <p:sp>
        <p:nvSpPr>
          <p:cNvPr id="3" name="Content Placeholder 2">
            <a:extLst>
              <a:ext uri="{FF2B5EF4-FFF2-40B4-BE49-F238E27FC236}">
                <a16:creationId xmlns:a16="http://schemas.microsoft.com/office/drawing/2014/main" id="{D81E615E-DDB8-FB20-EAD6-56A49AC79D46}"/>
              </a:ext>
            </a:extLst>
          </p:cNvPr>
          <p:cNvSpPr>
            <a:spLocks noGrp="1"/>
          </p:cNvSpPr>
          <p:nvPr>
            <p:ph idx="1"/>
          </p:nvPr>
        </p:nvSpPr>
        <p:spPr>
          <a:xfrm>
            <a:off x="571500" y="1343025"/>
            <a:ext cx="10515600" cy="4910138"/>
          </a:xfrm>
        </p:spPr>
        <p:txBody>
          <a:bodyPr/>
          <a:lstStyle/>
          <a:p>
            <a:r>
              <a:rPr lang="en-US" b="1" dirty="0"/>
              <a:t>“Scalable off-chain instant payments”</a:t>
            </a:r>
          </a:p>
          <a:p>
            <a:pPr lvl="1"/>
            <a:r>
              <a:rPr lang="en-US" dirty="0"/>
              <a:t>Don’t transact on L1</a:t>
            </a:r>
          </a:p>
          <a:p>
            <a:pPr lvl="1"/>
            <a:r>
              <a:rPr lang="en-US" dirty="0"/>
              <a:t>(Scale without Blocksize increase)</a:t>
            </a:r>
          </a:p>
          <a:p>
            <a:r>
              <a:rPr lang="en-US" b="1" dirty="0"/>
              <a:t>“via a network of channels”</a:t>
            </a:r>
          </a:p>
          <a:p>
            <a:pPr lvl="1"/>
            <a:r>
              <a:rPr lang="en-US" dirty="0"/>
              <a:t>Offload txns </a:t>
            </a:r>
            <a:r>
              <a:rPr lang="en-US" i="1" u="sng" dirty="0"/>
              <a:t>away from L1</a:t>
            </a:r>
            <a:endParaRPr lang="en-US" dirty="0"/>
          </a:p>
          <a:p>
            <a:pPr lvl="1"/>
            <a:r>
              <a:rPr lang="en-US" dirty="0"/>
              <a:t>Onto: a </a:t>
            </a:r>
            <a:r>
              <a:rPr lang="en-US" i="1" u="sng" dirty="0"/>
              <a:t>network of micropayment channels</a:t>
            </a:r>
          </a:p>
          <a:p>
            <a:pPr lvl="1"/>
            <a:r>
              <a:rPr lang="en-US" dirty="0"/>
              <a:t>Using: the </a:t>
            </a:r>
            <a:r>
              <a:rPr lang="en-US" i="1" u="sng" dirty="0"/>
              <a:t>HTLC</a:t>
            </a:r>
          </a:p>
        </p:txBody>
      </p:sp>
      <p:sp>
        <p:nvSpPr>
          <p:cNvPr id="4" name="Rectangle: Rounded Corners 3">
            <a:extLst>
              <a:ext uri="{FF2B5EF4-FFF2-40B4-BE49-F238E27FC236}">
                <a16:creationId xmlns:a16="http://schemas.microsoft.com/office/drawing/2014/main" id="{1DA262F0-5857-7405-605C-9C0F555C716B}"/>
              </a:ext>
            </a:extLst>
          </p:cNvPr>
          <p:cNvSpPr/>
          <p:nvPr/>
        </p:nvSpPr>
        <p:spPr>
          <a:xfrm>
            <a:off x="6907282" y="163699"/>
            <a:ext cx="4829175" cy="171654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C7C66C2-0105-19A0-83BB-D1872139F1E9}"/>
              </a:ext>
            </a:extLst>
          </p:cNvPr>
          <p:cNvSpPr/>
          <p:nvPr/>
        </p:nvSpPr>
        <p:spPr>
          <a:xfrm>
            <a:off x="7753351" y="292488"/>
            <a:ext cx="438150" cy="3873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60ED239-5FFF-8A51-83FA-62739E9C5AA2}"/>
              </a:ext>
            </a:extLst>
          </p:cNvPr>
          <p:cNvSpPr/>
          <p:nvPr/>
        </p:nvSpPr>
        <p:spPr>
          <a:xfrm>
            <a:off x="8432007" y="1232289"/>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30F0BB1-7FFD-0892-F91D-EE15A16E75D5}"/>
              </a:ext>
            </a:extLst>
          </p:cNvPr>
          <p:cNvSpPr/>
          <p:nvPr/>
        </p:nvSpPr>
        <p:spPr>
          <a:xfrm>
            <a:off x="7392591" y="1118784"/>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2C82609-8E9B-E9F4-79ED-47357825C364}"/>
              </a:ext>
            </a:extLst>
          </p:cNvPr>
          <p:cNvSpPr/>
          <p:nvPr/>
        </p:nvSpPr>
        <p:spPr>
          <a:xfrm>
            <a:off x="8003382" y="1432314"/>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F88FF27-7ACF-EC91-87C3-46BE1CE4A0D0}"/>
              </a:ext>
            </a:extLst>
          </p:cNvPr>
          <p:cNvSpPr/>
          <p:nvPr/>
        </p:nvSpPr>
        <p:spPr>
          <a:xfrm>
            <a:off x="7605712" y="1532326"/>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9F4AC32-C709-1F19-4728-7447D5206143}"/>
              </a:ext>
            </a:extLst>
          </p:cNvPr>
          <p:cNvSpPr/>
          <p:nvPr/>
        </p:nvSpPr>
        <p:spPr>
          <a:xfrm>
            <a:off x="7812882" y="1018771"/>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E72A7E2-5921-A7AA-62F6-403CBE37C9CA}"/>
              </a:ext>
            </a:extLst>
          </p:cNvPr>
          <p:cNvCxnSpPr/>
          <p:nvPr/>
        </p:nvCxnSpPr>
        <p:spPr>
          <a:xfrm flipV="1">
            <a:off x="7515739" y="559190"/>
            <a:ext cx="332861" cy="62226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E3A94D2-84CA-7A32-4C7E-65B731E6F8CC}"/>
              </a:ext>
            </a:extLst>
          </p:cNvPr>
          <p:cNvCxnSpPr>
            <a:stCxn id="9" idx="0"/>
          </p:cNvCxnSpPr>
          <p:nvPr/>
        </p:nvCxnSpPr>
        <p:spPr>
          <a:xfrm flipV="1">
            <a:off x="7700962" y="559190"/>
            <a:ext cx="179272" cy="9731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CF08D28-5E3D-EE55-F6EF-4E0CEC044B28}"/>
              </a:ext>
            </a:extLst>
          </p:cNvPr>
          <p:cNvCxnSpPr>
            <a:stCxn id="10" idx="0"/>
          </p:cNvCxnSpPr>
          <p:nvPr/>
        </p:nvCxnSpPr>
        <p:spPr>
          <a:xfrm flipV="1">
            <a:off x="7908132" y="575859"/>
            <a:ext cx="6465" cy="44291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A38DFD2-B2ED-8654-70A5-794E8B9D31A0}"/>
              </a:ext>
            </a:extLst>
          </p:cNvPr>
          <p:cNvCxnSpPr/>
          <p:nvPr/>
        </p:nvCxnSpPr>
        <p:spPr>
          <a:xfrm flipH="1" flipV="1">
            <a:off x="7992154" y="604434"/>
            <a:ext cx="94058" cy="777043"/>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9479D38-A50D-B459-F304-C3CF02077553}"/>
              </a:ext>
            </a:extLst>
          </p:cNvPr>
          <p:cNvCxnSpPr/>
          <p:nvPr/>
        </p:nvCxnSpPr>
        <p:spPr>
          <a:xfrm flipH="1" flipV="1">
            <a:off x="8091827" y="604434"/>
            <a:ext cx="337286" cy="57701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52347E-0175-3852-7415-F1F64BD4637C}"/>
              </a:ext>
            </a:extLst>
          </p:cNvPr>
          <p:cNvSpPr txBox="1"/>
          <p:nvPr/>
        </p:nvSpPr>
        <p:spPr>
          <a:xfrm>
            <a:off x="9003957" y="608711"/>
            <a:ext cx="2375587" cy="523220"/>
          </a:xfrm>
          <a:prstGeom prst="rect">
            <a:avLst/>
          </a:prstGeom>
          <a:noFill/>
        </p:spPr>
        <p:txBody>
          <a:bodyPr wrap="none" rtlCol="0">
            <a:spAutoFit/>
          </a:bodyPr>
          <a:lstStyle/>
          <a:p>
            <a:r>
              <a:rPr lang="en-US" sz="2800" dirty="0"/>
              <a:t>Blockchain (L1)</a:t>
            </a:r>
          </a:p>
        </p:txBody>
      </p:sp>
      <p:sp>
        <p:nvSpPr>
          <p:cNvPr id="27" name="Rectangle: Rounded Corners 26">
            <a:extLst>
              <a:ext uri="{FF2B5EF4-FFF2-40B4-BE49-F238E27FC236}">
                <a16:creationId xmlns:a16="http://schemas.microsoft.com/office/drawing/2014/main" id="{62B36071-E724-D043-72A2-B5ED381339B7}"/>
              </a:ext>
            </a:extLst>
          </p:cNvPr>
          <p:cNvSpPr/>
          <p:nvPr/>
        </p:nvSpPr>
        <p:spPr>
          <a:xfrm>
            <a:off x="6924675" y="1964734"/>
            <a:ext cx="4829175" cy="179304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913142-9CF0-A4BA-1BAF-4FBC5B6965EA}"/>
              </a:ext>
            </a:extLst>
          </p:cNvPr>
          <p:cNvSpPr/>
          <p:nvPr/>
        </p:nvSpPr>
        <p:spPr>
          <a:xfrm>
            <a:off x="7804151" y="2112595"/>
            <a:ext cx="438150" cy="38735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E090FDA-4A5D-6F56-6087-01AA2149B57A}"/>
              </a:ext>
            </a:extLst>
          </p:cNvPr>
          <p:cNvSpPr/>
          <p:nvPr/>
        </p:nvSpPr>
        <p:spPr>
          <a:xfrm>
            <a:off x="8482807" y="3052396"/>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4BCFBBC-2587-CF2C-9059-718E33C5D0AE}"/>
              </a:ext>
            </a:extLst>
          </p:cNvPr>
          <p:cNvSpPr/>
          <p:nvPr/>
        </p:nvSpPr>
        <p:spPr>
          <a:xfrm>
            <a:off x="7443391" y="2938891"/>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7E5C83A-B70B-3F73-37D1-61B1BC8E5A12}"/>
              </a:ext>
            </a:extLst>
          </p:cNvPr>
          <p:cNvSpPr/>
          <p:nvPr/>
        </p:nvSpPr>
        <p:spPr>
          <a:xfrm>
            <a:off x="8054182" y="3252421"/>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553CE8B-0470-8790-0BBD-7314E0C51615}"/>
              </a:ext>
            </a:extLst>
          </p:cNvPr>
          <p:cNvSpPr/>
          <p:nvPr/>
        </p:nvSpPr>
        <p:spPr>
          <a:xfrm>
            <a:off x="7656512" y="3352433"/>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7C7A50D-3B8D-75BB-13EA-D4A3383BC4BB}"/>
              </a:ext>
            </a:extLst>
          </p:cNvPr>
          <p:cNvSpPr/>
          <p:nvPr/>
        </p:nvSpPr>
        <p:spPr>
          <a:xfrm>
            <a:off x="7863682" y="2838878"/>
            <a:ext cx="190500" cy="200025"/>
          </a:xfrm>
          <a:prstGeom prst="ellips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BB6ED05D-25F4-9585-5382-E3CB30217B93}"/>
              </a:ext>
            </a:extLst>
          </p:cNvPr>
          <p:cNvCxnSpPr>
            <a:stCxn id="41" idx="0"/>
          </p:cNvCxnSpPr>
          <p:nvPr/>
        </p:nvCxnSpPr>
        <p:spPr>
          <a:xfrm flipV="1">
            <a:off x="7719026" y="2379297"/>
            <a:ext cx="180374" cy="461197"/>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022E08C-77A3-A9FE-AD85-B02A6900FDE7}"/>
              </a:ext>
            </a:extLst>
          </p:cNvPr>
          <p:cNvCxnSpPr/>
          <p:nvPr/>
        </p:nvCxnSpPr>
        <p:spPr>
          <a:xfrm flipV="1">
            <a:off x="7863391" y="2392702"/>
            <a:ext cx="139991" cy="863793"/>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05416717-B16A-CF0F-3974-FB5429CB9D32}"/>
              </a:ext>
            </a:extLst>
          </p:cNvPr>
          <p:cNvSpPr txBox="1"/>
          <p:nvPr/>
        </p:nvSpPr>
        <p:spPr>
          <a:xfrm>
            <a:off x="9292538" y="2183945"/>
            <a:ext cx="1515158" cy="523220"/>
          </a:xfrm>
          <a:prstGeom prst="rect">
            <a:avLst/>
          </a:prstGeom>
          <a:noFill/>
        </p:spPr>
        <p:txBody>
          <a:bodyPr wrap="none" rtlCol="0">
            <a:spAutoFit/>
          </a:bodyPr>
          <a:lstStyle/>
          <a:p>
            <a:r>
              <a:rPr lang="en-US" sz="2800" dirty="0"/>
              <a:t>Channels</a:t>
            </a:r>
          </a:p>
        </p:txBody>
      </p:sp>
      <p:sp>
        <p:nvSpPr>
          <p:cNvPr id="41" name="Rectangle: Rounded Corners 40">
            <a:extLst>
              <a:ext uri="{FF2B5EF4-FFF2-40B4-BE49-F238E27FC236}">
                <a16:creationId xmlns:a16="http://schemas.microsoft.com/office/drawing/2014/main" id="{B4F79B5B-FDE9-1F4D-7D1B-8BD21952E570}"/>
              </a:ext>
            </a:extLst>
          </p:cNvPr>
          <p:cNvSpPr/>
          <p:nvPr/>
        </p:nvSpPr>
        <p:spPr>
          <a:xfrm rot="20953453">
            <a:off x="7316179" y="2837407"/>
            <a:ext cx="871164" cy="350173"/>
          </a:xfrm>
          <a:prstGeom prst="round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7ECC6FD3-424E-A612-F833-A619681879DB}"/>
              </a:ext>
            </a:extLst>
          </p:cNvPr>
          <p:cNvCxnSpPr/>
          <p:nvPr/>
        </p:nvCxnSpPr>
        <p:spPr>
          <a:xfrm flipH="1" flipV="1">
            <a:off x="8086212" y="2351521"/>
            <a:ext cx="340226" cy="52265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44" name="Rectangle: Rounded Corners 43">
            <a:extLst>
              <a:ext uri="{FF2B5EF4-FFF2-40B4-BE49-F238E27FC236}">
                <a16:creationId xmlns:a16="http://schemas.microsoft.com/office/drawing/2014/main" id="{30793353-F09F-42D1-7E0C-45F3FFB41FC2}"/>
              </a:ext>
            </a:extLst>
          </p:cNvPr>
          <p:cNvSpPr/>
          <p:nvPr/>
        </p:nvSpPr>
        <p:spPr>
          <a:xfrm rot="20953453">
            <a:off x="7523350" y="3244941"/>
            <a:ext cx="871164" cy="350173"/>
          </a:xfrm>
          <a:prstGeom prst="roundRect">
            <a:avLst/>
          </a:prstGeom>
          <a:noFill/>
          <a:ln w="571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586404BC-6A1A-26D1-5D5B-F8A07797A591}"/>
              </a:ext>
            </a:extLst>
          </p:cNvPr>
          <p:cNvSpPr/>
          <p:nvPr/>
        </p:nvSpPr>
        <p:spPr>
          <a:xfrm rot="1154390">
            <a:off x="7795683" y="2856429"/>
            <a:ext cx="962360" cy="332904"/>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8171BF6-3AEB-62A1-23CF-0DC1A4969871}"/>
              </a:ext>
            </a:extLst>
          </p:cNvPr>
          <p:cNvSpPr txBox="1"/>
          <p:nvPr/>
        </p:nvSpPr>
        <p:spPr>
          <a:xfrm>
            <a:off x="9193509" y="2786541"/>
            <a:ext cx="2073381" cy="338554"/>
          </a:xfrm>
          <a:prstGeom prst="rect">
            <a:avLst/>
          </a:prstGeom>
          <a:noFill/>
        </p:spPr>
        <p:txBody>
          <a:bodyPr wrap="square" rtlCol="0">
            <a:spAutoFit/>
          </a:bodyPr>
          <a:lstStyle/>
          <a:p>
            <a:pPr algn="ctr"/>
            <a:r>
              <a:rPr lang="en-US" sz="1600" dirty="0"/>
              <a:t>2 people = 1 channel</a:t>
            </a:r>
          </a:p>
        </p:txBody>
      </p:sp>
      <p:sp>
        <p:nvSpPr>
          <p:cNvPr id="50" name="Rectangle: Rounded Corners 49">
            <a:extLst>
              <a:ext uri="{FF2B5EF4-FFF2-40B4-BE49-F238E27FC236}">
                <a16:creationId xmlns:a16="http://schemas.microsoft.com/office/drawing/2014/main" id="{8382913E-DC53-F8EF-F294-0DBCDDCD5FAF}"/>
              </a:ext>
            </a:extLst>
          </p:cNvPr>
          <p:cNvSpPr/>
          <p:nvPr/>
        </p:nvSpPr>
        <p:spPr>
          <a:xfrm>
            <a:off x="6907282" y="3837152"/>
            <a:ext cx="4829175" cy="267509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167886A7-F81F-1611-F155-6A4510BC68CE}"/>
              </a:ext>
            </a:extLst>
          </p:cNvPr>
          <p:cNvSpPr/>
          <p:nvPr/>
        </p:nvSpPr>
        <p:spPr>
          <a:xfrm rot="20953453">
            <a:off x="7271843" y="4901961"/>
            <a:ext cx="871164" cy="350173"/>
          </a:xfrm>
          <a:prstGeom prst="round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1AE1786A-8B0B-4539-6516-DB651AE3B7EC}"/>
              </a:ext>
            </a:extLst>
          </p:cNvPr>
          <p:cNvSpPr/>
          <p:nvPr/>
        </p:nvSpPr>
        <p:spPr>
          <a:xfrm rot="20953453">
            <a:off x="7271844" y="5598355"/>
            <a:ext cx="871164" cy="350173"/>
          </a:xfrm>
          <a:prstGeom prst="roundRect">
            <a:avLst/>
          </a:prstGeom>
          <a:noFill/>
          <a:ln w="571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B1491B7D-A288-F388-778C-3AC5EDA77304}"/>
              </a:ext>
            </a:extLst>
          </p:cNvPr>
          <p:cNvSpPr/>
          <p:nvPr/>
        </p:nvSpPr>
        <p:spPr>
          <a:xfrm rot="1154390">
            <a:off x="7751347" y="4920983"/>
            <a:ext cx="962360" cy="332904"/>
          </a:xfrm>
          <a:prstGeom prst="roundRect">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AE818E61-6399-AEEA-70B2-F660C30CBCF9}"/>
              </a:ext>
            </a:extLst>
          </p:cNvPr>
          <p:cNvSpPr/>
          <p:nvPr/>
        </p:nvSpPr>
        <p:spPr>
          <a:xfrm rot="16200000">
            <a:off x="7538764" y="5112085"/>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8E22AB55-6C06-2722-80BA-2615022169C2}"/>
              </a:ext>
            </a:extLst>
          </p:cNvPr>
          <p:cNvSpPr/>
          <p:nvPr/>
        </p:nvSpPr>
        <p:spPr>
          <a:xfrm rot="2338836">
            <a:off x="7755919" y="5679721"/>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A10C5E06-51D0-2477-1866-A9E006F4DBDD}"/>
              </a:ext>
            </a:extLst>
          </p:cNvPr>
          <p:cNvSpPr/>
          <p:nvPr/>
        </p:nvSpPr>
        <p:spPr>
          <a:xfrm rot="19942868">
            <a:off x="8406725" y="4870488"/>
            <a:ext cx="962360" cy="332904"/>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FDFFFE73-AAE5-763D-7536-5F8027E8E8F8}"/>
              </a:ext>
            </a:extLst>
          </p:cNvPr>
          <p:cNvSpPr/>
          <p:nvPr/>
        </p:nvSpPr>
        <p:spPr>
          <a:xfrm rot="3084123">
            <a:off x="8855318" y="4939411"/>
            <a:ext cx="962360" cy="332904"/>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D7D360EC-7625-2638-1304-5F1711CC4AF2}"/>
              </a:ext>
            </a:extLst>
          </p:cNvPr>
          <p:cNvSpPr/>
          <p:nvPr/>
        </p:nvSpPr>
        <p:spPr>
          <a:xfrm rot="19668273">
            <a:off x="8843779" y="5330678"/>
            <a:ext cx="962360" cy="332904"/>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E83032F9-451E-3D2B-0A45-55F37D6FE4BE}"/>
              </a:ext>
            </a:extLst>
          </p:cNvPr>
          <p:cNvSpPr txBox="1"/>
          <p:nvPr/>
        </p:nvSpPr>
        <p:spPr>
          <a:xfrm>
            <a:off x="10116486" y="4823609"/>
            <a:ext cx="1519840" cy="523220"/>
          </a:xfrm>
          <a:prstGeom prst="rect">
            <a:avLst/>
          </a:prstGeom>
          <a:noFill/>
        </p:spPr>
        <p:txBody>
          <a:bodyPr wrap="none" rtlCol="0">
            <a:spAutoFit/>
          </a:bodyPr>
          <a:lstStyle/>
          <a:p>
            <a:r>
              <a:rPr lang="en-US" sz="2800" dirty="0"/>
              <a:t>Lightning</a:t>
            </a:r>
          </a:p>
        </p:txBody>
      </p:sp>
      <p:sp>
        <p:nvSpPr>
          <p:cNvPr id="60" name="TextBox 59">
            <a:extLst>
              <a:ext uri="{FF2B5EF4-FFF2-40B4-BE49-F238E27FC236}">
                <a16:creationId xmlns:a16="http://schemas.microsoft.com/office/drawing/2014/main" id="{610C66C0-AA9E-86D3-4D18-CC32F83F1C2F}"/>
              </a:ext>
            </a:extLst>
          </p:cNvPr>
          <p:cNvSpPr txBox="1"/>
          <p:nvPr/>
        </p:nvSpPr>
        <p:spPr>
          <a:xfrm>
            <a:off x="9136213" y="5847775"/>
            <a:ext cx="2484287" cy="584775"/>
          </a:xfrm>
          <a:prstGeom prst="rect">
            <a:avLst/>
          </a:prstGeom>
          <a:noFill/>
        </p:spPr>
        <p:txBody>
          <a:bodyPr wrap="square" rtlCol="0">
            <a:spAutoFit/>
          </a:bodyPr>
          <a:lstStyle/>
          <a:p>
            <a:pPr algn="ctr"/>
            <a:r>
              <a:rPr lang="en-US" sz="1600" dirty="0"/>
              <a:t>Use </a:t>
            </a:r>
            <a:r>
              <a:rPr lang="en-US" sz="1600" b="1" u="sng" dirty="0"/>
              <a:t>HTLCs</a:t>
            </a:r>
            <a:r>
              <a:rPr lang="en-US" sz="1600" dirty="0"/>
              <a:t> to make use of </a:t>
            </a:r>
            <a:r>
              <a:rPr lang="en-US" sz="1600" b="1" i="1" u="sng" dirty="0"/>
              <a:t>other people’s</a:t>
            </a:r>
            <a:r>
              <a:rPr lang="en-US" sz="1600" dirty="0"/>
              <a:t> channels.</a:t>
            </a:r>
          </a:p>
        </p:txBody>
      </p:sp>
      <p:pic>
        <p:nvPicPr>
          <p:cNvPr id="62" name="Picture 61">
            <a:extLst>
              <a:ext uri="{FF2B5EF4-FFF2-40B4-BE49-F238E27FC236}">
                <a16:creationId xmlns:a16="http://schemas.microsoft.com/office/drawing/2014/main" id="{C4286EC7-9D42-2786-1E97-08C9404A189E}"/>
              </a:ext>
            </a:extLst>
          </p:cNvPr>
          <p:cNvPicPr>
            <a:picLocks noChangeAspect="1"/>
          </p:cNvPicPr>
          <p:nvPr/>
        </p:nvPicPr>
        <p:blipFill>
          <a:blip r:embed="rId2"/>
          <a:stretch>
            <a:fillRect/>
          </a:stretch>
        </p:blipFill>
        <p:spPr>
          <a:xfrm>
            <a:off x="697489" y="4373344"/>
            <a:ext cx="4023291" cy="2247572"/>
          </a:xfrm>
          <a:prstGeom prst="rect">
            <a:avLst/>
          </a:prstGeom>
          <a:ln>
            <a:solidFill>
              <a:schemeClr val="tx1"/>
            </a:solidFill>
          </a:ln>
        </p:spPr>
      </p:pic>
      <p:sp>
        <p:nvSpPr>
          <p:cNvPr id="64" name="Rectangle: Rounded Corners 63">
            <a:extLst>
              <a:ext uri="{FF2B5EF4-FFF2-40B4-BE49-F238E27FC236}">
                <a16:creationId xmlns:a16="http://schemas.microsoft.com/office/drawing/2014/main" id="{482BBE7A-41B0-5600-1890-4BECFA3C1EE7}"/>
              </a:ext>
            </a:extLst>
          </p:cNvPr>
          <p:cNvSpPr/>
          <p:nvPr/>
        </p:nvSpPr>
        <p:spPr>
          <a:xfrm rot="4518980">
            <a:off x="7408405" y="4501937"/>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287651E7-CE33-F347-D3DB-3C8A58C9CB77}"/>
              </a:ext>
            </a:extLst>
          </p:cNvPr>
          <p:cNvSpPr/>
          <p:nvPr/>
        </p:nvSpPr>
        <p:spPr>
          <a:xfrm rot="10013684">
            <a:off x="7603600" y="4140274"/>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D9AF731A-27C5-7584-794C-9A3D634C8817}"/>
              </a:ext>
            </a:extLst>
          </p:cNvPr>
          <p:cNvSpPr/>
          <p:nvPr/>
        </p:nvSpPr>
        <p:spPr>
          <a:xfrm rot="11032326">
            <a:off x="8192245" y="4085758"/>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FEF123A6-FB8F-4322-C3E5-55932451B3D2}"/>
              </a:ext>
            </a:extLst>
          </p:cNvPr>
          <p:cNvSpPr/>
          <p:nvPr/>
        </p:nvSpPr>
        <p:spPr>
          <a:xfrm rot="9606916">
            <a:off x="8825312" y="3985318"/>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2C2276E4-0EB5-9A94-EA91-638FC4878C89}"/>
              </a:ext>
            </a:extLst>
          </p:cNvPr>
          <p:cNvSpPr/>
          <p:nvPr/>
        </p:nvSpPr>
        <p:spPr>
          <a:xfrm rot="12619743">
            <a:off x="9391648" y="4095794"/>
            <a:ext cx="871164" cy="350173"/>
          </a:xfrm>
          <a:prstGeom prst="roundRect">
            <a:avLst/>
          </a:prstGeom>
          <a:noFill/>
          <a:ln w="571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BF9A6627-067B-A2CC-1135-D9284A854C54}"/>
              </a:ext>
            </a:extLst>
          </p:cNvPr>
          <p:cNvSpPr/>
          <p:nvPr/>
        </p:nvSpPr>
        <p:spPr>
          <a:xfrm>
            <a:off x="7308166" y="4900445"/>
            <a:ext cx="2251835" cy="979850"/>
          </a:xfrm>
          <a:custGeom>
            <a:avLst/>
            <a:gdLst>
              <a:gd name="connsiteX0" fmla="*/ 0 w 2251835"/>
              <a:gd name="connsiteY0" fmla="*/ 979850 h 979850"/>
              <a:gd name="connsiteX1" fmla="*/ 569742 w 2251835"/>
              <a:gd name="connsiteY1" fmla="*/ 832140 h 979850"/>
              <a:gd name="connsiteX2" fmla="*/ 738554 w 2251835"/>
              <a:gd name="connsiteY2" fmla="*/ 100620 h 979850"/>
              <a:gd name="connsiteX3" fmla="*/ 1153551 w 2251835"/>
              <a:gd name="connsiteY3" fmla="*/ 269432 h 979850"/>
              <a:gd name="connsiteX4" fmla="*/ 1793631 w 2251835"/>
              <a:gd name="connsiteY4" fmla="*/ 2146 h 979850"/>
              <a:gd name="connsiteX5" fmla="*/ 2250831 w 2251835"/>
              <a:gd name="connsiteY5" fmla="*/ 445278 h 979850"/>
              <a:gd name="connsiteX6" fmla="*/ 1892105 w 2251835"/>
              <a:gd name="connsiteY6" fmla="*/ 691463 h 97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51835" h="979850">
                <a:moveTo>
                  <a:pt x="0" y="979850"/>
                </a:moveTo>
                <a:cubicBezTo>
                  <a:pt x="223325" y="979264"/>
                  <a:pt x="446650" y="978678"/>
                  <a:pt x="569742" y="832140"/>
                </a:cubicBezTo>
                <a:cubicBezTo>
                  <a:pt x="692834" y="685602"/>
                  <a:pt x="641253" y="194405"/>
                  <a:pt x="738554" y="100620"/>
                </a:cubicBezTo>
                <a:cubicBezTo>
                  <a:pt x="835855" y="6835"/>
                  <a:pt x="977705" y="285844"/>
                  <a:pt x="1153551" y="269432"/>
                </a:cubicBezTo>
                <a:cubicBezTo>
                  <a:pt x="1329397" y="253020"/>
                  <a:pt x="1610751" y="-27162"/>
                  <a:pt x="1793631" y="2146"/>
                </a:cubicBezTo>
                <a:cubicBezTo>
                  <a:pt x="1976511" y="31454"/>
                  <a:pt x="2234419" y="330392"/>
                  <a:pt x="2250831" y="445278"/>
                </a:cubicBezTo>
                <a:cubicBezTo>
                  <a:pt x="2267243" y="560164"/>
                  <a:pt x="2079674" y="625813"/>
                  <a:pt x="1892105" y="691463"/>
                </a:cubicBezTo>
              </a:path>
            </a:pathLst>
          </a:custGeom>
          <a:noFill/>
          <a:ln w="762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2F5E318-9DB0-7541-E642-1D95E5BA23A7}"/>
              </a:ext>
            </a:extLst>
          </p:cNvPr>
          <p:cNvSpPr txBox="1"/>
          <p:nvPr/>
        </p:nvSpPr>
        <p:spPr>
          <a:xfrm>
            <a:off x="8143388" y="5709997"/>
            <a:ext cx="1124240" cy="523220"/>
          </a:xfrm>
          <a:prstGeom prst="rect">
            <a:avLst/>
          </a:prstGeom>
          <a:solidFill>
            <a:srgbClr val="FFFFFF">
              <a:alpha val="45882"/>
            </a:srgbClr>
          </a:solidFill>
          <a:ln>
            <a:solidFill>
              <a:schemeClr val="tx1"/>
            </a:solidFill>
          </a:ln>
        </p:spPr>
        <p:txBody>
          <a:bodyPr wrap="square" rtlCol="0">
            <a:spAutoFit/>
          </a:bodyPr>
          <a:lstStyle/>
          <a:p>
            <a:r>
              <a:rPr lang="en-US" sz="2800" b="1" dirty="0"/>
              <a:t>HTLCs</a:t>
            </a:r>
          </a:p>
        </p:txBody>
      </p:sp>
      <p:sp>
        <p:nvSpPr>
          <p:cNvPr id="70" name="Content Placeholder 2">
            <a:extLst>
              <a:ext uri="{FF2B5EF4-FFF2-40B4-BE49-F238E27FC236}">
                <a16:creationId xmlns:a16="http://schemas.microsoft.com/office/drawing/2014/main" id="{CD6E0C28-EF9B-4E99-3EFF-09FD59BE2A3A}"/>
              </a:ext>
            </a:extLst>
          </p:cNvPr>
          <p:cNvSpPr txBox="1">
            <a:spLocks/>
          </p:cNvSpPr>
          <p:nvPr/>
        </p:nvSpPr>
        <p:spPr>
          <a:xfrm>
            <a:off x="4846769" y="4362891"/>
            <a:ext cx="2002866" cy="232278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Payer wants to pay.</a:t>
            </a:r>
          </a:p>
          <a:p>
            <a:pPr marL="0" indent="0">
              <a:buNone/>
            </a:pPr>
            <a:r>
              <a:rPr lang="en-US" dirty="0"/>
              <a:t>Receiver wants to receive. ($)</a:t>
            </a:r>
          </a:p>
          <a:p>
            <a:pPr marL="0" indent="0">
              <a:buNone/>
            </a:pPr>
            <a:r>
              <a:rPr lang="en-US" dirty="0"/>
              <a:t>How to entice 3</a:t>
            </a:r>
            <a:r>
              <a:rPr lang="en-US" baseline="30000" dirty="0"/>
              <a:t>rd</a:t>
            </a:r>
            <a:r>
              <a:rPr lang="en-US" dirty="0"/>
              <a:t> parties to facilitate your txn? HTLC.</a:t>
            </a:r>
          </a:p>
        </p:txBody>
      </p:sp>
    </p:spTree>
    <p:extLst>
      <p:ext uri="{BB962C8B-B14F-4D97-AF65-F5344CB8AC3E}">
        <p14:creationId xmlns:p14="http://schemas.microsoft.com/office/powerpoint/2010/main" val="341624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5C305-0E1D-551D-4885-FF5BAD101DA1}"/>
              </a:ext>
            </a:extLst>
          </p:cNvPr>
          <p:cNvSpPr>
            <a:spLocks noGrp="1"/>
          </p:cNvSpPr>
          <p:nvPr>
            <p:ph type="title"/>
          </p:nvPr>
        </p:nvSpPr>
        <p:spPr>
          <a:xfrm>
            <a:off x="648286" y="519870"/>
            <a:ext cx="2720926" cy="3967724"/>
          </a:xfrm>
        </p:spPr>
        <p:txBody>
          <a:bodyPr/>
          <a:lstStyle/>
          <a:p>
            <a:r>
              <a:rPr lang="en-US" dirty="0"/>
              <a:t>The </a:t>
            </a:r>
            <a:r>
              <a:rPr lang="en-US" u="sng" dirty="0"/>
              <a:t>Channel Idea</a:t>
            </a:r>
            <a:r>
              <a:rPr lang="en-US" dirty="0"/>
              <a:t> &amp; the </a:t>
            </a:r>
            <a:r>
              <a:rPr lang="en-US" u="sng" dirty="0"/>
              <a:t>HTLC Idea</a:t>
            </a:r>
            <a:r>
              <a:rPr lang="en-US" dirty="0"/>
              <a:t> Both Don’t Work</a:t>
            </a:r>
          </a:p>
        </p:txBody>
      </p:sp>
      <p:pic>
        <p:nvPicPr>
          <p:cNvPr id="5" name="Picture 4">
            <a:extLst>
              <a:ext uri="{FF2B5EF4-FFF2-40B4-BE49-F238E27FC236}">
                <a16:creationId xmlns:a16="http://schemas.microsoft.com/office/drawing/2014/main" id="{7F66BCEC-20FF-D2A8-F7F3-D38E40F54AE1}"/>
              </a:ext>
            </a:extLst>
          </p:cNvPr>
          <p:cNvPicPr>
            <a:picLocks noChangeAspect="1"/>
          </p:cNvPicPr>
          <p:nvPr/>
        </p:nvPicPr>
        <p:blipFill>
          <a:blip r:embed="rId2"/>
          <a:stretch>
            <a:fillRect/>
          </a:stretch>
        </p:blipFill>
        <p:spPr>
          <a:xfrm>
            <a:off x="3594295" y="340545"/>
            <a:ext cx="8090002" cy="6176910"/>
          </a:xfrm>
          <a:prstGeom prst="rect">
            <a:avLst/>
          </a:prstGeom>
          <a:ln>
            <a:solidFill>
              <a:schemeClr val="tx1"/>
            </a:solidFill>
          </a:ln>
        </p:spPr>
      </p:pic>
    </p:spTree>
    <p:extLst>
      <p:ext uri="{BB962C8B-B14F-4D97-AF65-F5344CB8AC3E}">
        <p14:creationId xmlns:p14="http://schemas.microsoft.com/office/powerpoint/2010/main" val="2522338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8B7A9-972B-EBE6-9496-DD31C588A005}"/>
              </a:ext>
            </a:extLst>
          </p:cNvPr>
          <p:cNvSpPr>
            <a:spLocks noGrp="1"/>
          </p:cNvSpPr>
          <p:nvPr>
            <p:ph type="title"/>
          </p:nvPr>
        </p:nvSpPr>
        <p:spPr>
          <a:xfrm>
            <a:off x="7420707" y="528197"/>
            <a:ext cx="2370406" cy="922069"/>
          </a:xfrm>
        </p:spPr>
        <p:txBody>
          <a:bodyPr/>
          <a:lstStyle/>
          <a:p>
            <a:r>
              <a:rPr lang="en-US" dirty="0"/>
              <a:t>Channels</a:t>
            </a:r>
          </a:p>
        </p:txBody>
      </p:sp>
      <p:pic>
        <p:nvPicPr>
          <p:cNvPr id="5" name="Picture 4">
            <a:extLst>
              <a:ext uri="{FF2B5EF4-FFF2-40B4-BE49-F238E27FC236}">
                <a16:creationId xmlns:a16="http://schemas.microsoft.com/office/drawing/2014/main" id="{FFE94736-362E-2FB7-9828-2507FFC7D258}"/>
              </a:ext>
            </a:extLst>
          </p:cNvPr>
          <p:cNvPicPr>
            <a:picLocks noChangeAspect="1"/>
          </p:cNvPicPr>
          <p:nvPr/>
        </p:nvPicPr>
        <p:blipFill>
          <a:blip r:embed="rId2"/>
          <a:stretch>
            <a:fillRect/>
          </a:stretch>
        </p:blipFill>
        <p:spPr>
          <a:xfrm>
            <a:off x="207931" y="872196"/>
            <a:ext cx="6160131" cy="3791243"/>
          </a:xfrm>
          <a:prstGeom prst="rect">
            <a:avLst/>
          </a:prstGeom>
          <a:ln>
            <a:solidFill>
              <a:schemeClr val="tx1"/>
            </a:solidFill>
          </a:ln>
        </p:spPr>
      </p:pic>
      <p:pic>
        <p:nvPicPr>
          <p:cNvPr id="7" name="Content Placeholder 6">
            <a:extLst>
              <a:ext uri="{FF2B5EF4-FFF2-40B4-BE49-F238E27FC236}">
                <a16:creationId xmlns:a16="http://schemas.microsoft.com/office/drawing/2014/main" id="{F2DA6522-1BA7-B109-BDAA-F7EEBB5FA6EF}"/>
              </a:ext>
            </a:extLst>
          </p:cNvPr>
          <p:cNvPicPr>
            <a:picLocks noGrp="1" noChangeAspect="1"/>
          </p:cNvPicPr>
          <p:nvPr>
            <p:ph idx="1"/>
          </p:nvPr>
        </p:nvPicPr>
        <p:blipFill>
          <a:blip r:embed="rId3"/>
          <a:stretch>
            <a:fillRect/>
          </a:stretch>
        </p:blipFill>
        <p:spPr>
          <a:xfrm>
            <a:off x="6096000" y="2028337"/>
            <a:ext cx="5973434" cy="4351338"/>
          </a:xfrm>
          <a:prstGeom prst="rect">
            <a:avLst/>
          </a:prstGeom>
          <a:ln>
            <a:solidFill>
              <a:schemeClr val="tx1"/>
            </a:solidFill>
          </a:ln>
        </p:spPr>
      </p:pic>
    </p:spTree>
    <p:extLst>
      <p:ext uri="{BB962C8B-B14F-4D97-AF65-F5344CB8AC3E}">
        <p14:creationId xmlns:p14="http://schemas.microsoft.com/office/powerpoint/2010/main" val="1161703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34F34-ECD2-6A55-F837-CF7A8C12CB92}"/>
              </a:ext>
            </a:extLst>
          </p:cNvPr>
          <p:cNvSpPr>
            <a:spLocks noGrp="1"/>
          </p:cNvSpPr>
          <p:nvPr>
            <p:ph type="title"/>
          </p:nvPr>
        </p:nvSpPr>
        <p:spPr>
          <a:xfrm>
            <a:off x="295064" y="189279"/>
            <a:ext cx="2432539" cy="3239721"/>
          </a:xfrm>
        </p:spPr>
        <p:txBody>
          <a:bodyPr/>
          <a:lstStyle/>
          <a:p>
            <a:r>
              <a:rPr lang="en-US" dirty="0"/>
              <a:t>Do channel factories help? No</a:t>
            </a:r>
          </a:p>
        </p:txBody>
      </p:sp>
      <p:pic>
        <p:nvPicPr>
          <p:cNvPr id="5" name="Picture 4">
            <a:extLst>
              <a:ext uri="{FF2B5EF4-FFF2-40B4-BE49-F238E27FC236}">
                <a16:creationId xmlns:a16="http://schemas.microsoft.com/office/drawing/2014/main" id="{FB2BEDB1-C5FC-50DE-5484-A90057432C38}"/>
              </a:ext>
            </a:extLst>
          </p:cNvPr>
          <p:cNvPicPr>
            <a:picLocks noChangeAspect="1"/>
          </p:cNvPicPr>
          <p:nvPr/>
        </p:nvPicPr>
        <p:blipFill>
          <a:blip r:embed="rId2"/>
          <a:stretch>
            <a:fillRect/>
          </a:stretch>
        </p:blipFill>
        <p:spPr>
          <a:xfrm>
            <a:off x="6332497" y="792241"/>
            <a:ext cx="5859503" cy="5831059"/>
          </a:xfrm>
          <a:prstGeom prst="rect">
            <a:avLst/>
          </a:prstGeom>
        </p:spPr>
      </p:pic>
      <p:pic>
        <p:nvPicPr>
          <p:cNvPr id="11" name="Picture 10">
            <a:extLst>
              <a:ext uri="{FF2B5EF4-FFF2-40B4-BE49-F238E27FC236}">
                <a16:creationId xmlns:a16="http://schemas.microsoft.com/office/drawing/2014/main" id="{B1CE60C5-135F-2427-7ABC-6CADDDD61F25}"/>
              </a:ext>
            </a:extLst>
          </p:cNvPr>
          <p:cNvPicPr>
            <a:picLocks noChangeAspect="1"/>
          </p:cNvPicPr>
          <p:nvPr/>
        </p:nvPicPr>
        <p:blipFill>
          <a:blip r:embed="rId3"/>
          <a:stretch>
            <a:fillRect/>
          </a:stretch>
        </p:blipFill>
        <p:spPr>
          <a:xfrm>
            <a:off x="2727603" y="792241"/>
            <a:ext cx="4594119" cy="5671229"/>
          </a:xfrm>
          <a:prstGeom prst="rect">
            <a:avLst/>
          </a:prstGeom>
        </p:spPr>
      </p:pic>
    </p:spTree>
    <p:extLst>
      <p:ext uri="{BB962C8B-B14F-4D97-AF65-F5344CB8AC3E}">
        <p14:creationId xmlns:p14="http://schemas.microsoft.com/office/powerpoint/2010/main" val="693506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F935A-8412-BBF9-5FE3-295327084E1D}"/>
              </a:ext>
            </a:extLst>
          </p:cNvPr>
          <p:cNvSpPr>
            <a:spLocks noGrp="1"/>
          </p:cNvSpPr>
          <p:nvPr>
            <p:ph type="title"/>
          </p:nvPr>
        </p:nvSpPr>
        <p:spPr/>
        <p:txBody>
          <a:bodyPr/>
          <a:lstStyle/>
          <a:p>
            <a:r>
              <a:rPr lang="en-US" dirty="0"/>
              <a:t>HTLCs</a:t>
            </a:r>
          </a:p>
        </p:txBody>
      </p:sp>
      <p:sp>
        <p:nvSpPr>
          <p:cNvPr id="3" name="Content Placeholder 2">
            <a:extLst>
              <a:ext uri="{FF2B5EF4-FFF2-40B4-BE49-F238E27FC236}">
                <a16:creationId xmlns:a16="http://schemas.microsoft.com/office/drawing/2014/main" id="{97F48B53-1970-5DC6-29C7-B492734BD0EC}"/>
              </a:ext>
            </a:extLst>
          </p:cNvPr>
          <p:cNvSpPr>
            <a:spLocks noGrp="1"/>
          </p:cNvSpPr>
          <p:nvPr>
            <p:ph idx="1"/>
          </p:nvPr>
        </p:nvSpPr>
        <p:spPr>
          <a:xfrm>
            <a:off x="323557" y="1470073"/>
            <a:ext cx="4590026" cy="5141742"/>
          </a:xfrm>
        </p:spPr>
        <p:txBody>
          <a:bodyPr>
            <a:normAutofit/>
          </a:bodyPr>
          <a:lstStyle/>
          <a:p>
            <a:r>
              <a:rPr lang="en-US" dirty="0"/>
              <a:t>HTLCs hurt your bottom line</a:t>
            </a:r>
          </a:p>
          <a:p>
            <a:r>
              <a:rPr lang="en-US" dirty="0"/>
              <a:t>They </a:t>
            </a:r>
            <a:r>
              <a:rPr lang="en-US" i="1" u="sng" dirty="0"/>
              <a:t>expand the size</a:t>
            </a:r>
            <a:r>
              <a:rPr lang="en-US" dirty="0"/>
              <a:t> of two transactions you need to broadcast in order to claim the money.</a:t>
            </a:r>
          </a:p>
          <a:p>
            <a:r>
              <a:rPr lang="en-US" dirty="0"/>
              <a:t>Catch-22</a:t>
            </a:r>
          </a:p>
          <a:p>
            <a:pPr lvl="1"/>
            <a:r>
              <a:rPr lang="en-US" dirty="0"/>
              <a:t>When fee-rates are high, you can’t use HTLCs. And the “network” of channels is useless.</a:t>
            </a:r>
          </a:p>
          <a:p>
            <a:pPr lvl="1"/>
            <a:r>
              <a:rPr lang="en-US" dirty="0"/>
              <a:t>When fee-rates are low, you can just use on-chain txn. LN is uncompetitive.</a:t>
            </a:r>
          </a:p>
        </p:txBody>
      </p:sp>
      <p:pic>
        <p:nvPicPr>
          <p:cNvPr id="5" name="Picture 4">
            <a:extLst>
              <a:ext uri="{FF2B5EF4-FFF2-40B4-BE49-F238E27FC236}">
                <a16:creationId xmlns:a16="http://schemas.microsoft.com/office/drawing/2014/main" id="{06E6D894-CC0C-4F9D-BCCE-FED843E95974}"/>
              </a:ext>
            </a:extLst>
          </p:cNvPr>
          <p:cNvPicPr>
            <a:picLocks noChangeAspect="1"/>
          </p:cNvPicPr>
          <p:nvPr/>
        </p:nvPicPr>
        <p:blipFill>
          <a:blip r:embed="rId2"/>
          <a:stretch>
            <a:fillRect/>
          </a:stretch>
        </p:blipFill>
        <p:spPr>
          <a:xfrm>
            <a:off x="5064880" y="365125"/>
            <a:ext cx="6200928" cy="5591908"/>
          </a:xfrm>
          <a:prstGeom prst="rect">
            <a:avLst/>
          </a:prstGeom>
          <a:ln>
            <a:solidFill>
              <a:schemeClr val="tx1"/>
            </a:solidFill>
          </a:ln>
        </p:spPr>
      </p:pic>
    </p:spTree>
    <p:extLst>
      <p:ext uri="{BB962C8B-B14F-4D97-AF65-F5344CB8AC3E}">
        <p14:creationId xmlns:p14="http://schemas.microsoft.com/office/powerpoint/2010/main" val="44801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01084-120A-2C95-7C2A-F2A48E04D78F}"/>
              </a:ext>
            </a:extLst>
          </p:cNvPr>
          <p:cNvSpPr>
            <a:spLocks noGrp="1"/>
          </p:cNvSpPr>
          <p:nvPr>
            <p:ph type="title"/>
          </p:nvPr>
        </p:nvSpPr>
        <p:spPr>
          <a:xfrm>
            <a:off x="205153" y="97838"/>
            <a:ext cx="6533271" cy="1006475"/>
          </a:xfrm>
        </p:spPr>
        <p:txBody>
          <a:bodyPr/>
          <a:lstStyle/>
          <a:p>
            <a:r>
              <a:rPr lang="en-US" dirty="0"/>
              <a:t>Don’t Take My Word For</a:t>
            </a:r>
            <a:r>
              <a:rPr lang="en-US" baseline="0" dirty="0"/>
              <a:t> It</a:t>
            </a:r>
            <a:endParaRPr lang="en-US" dirty="0"/>
          </a:p>
        </p:txBody>
      </p:sp>
      <p:sp>
        <p:nvSpPr>
          <p:cNvPr id="3" name="Content Placeholder 2">
            <a:extLst>
              <a:ext uri="{FF2B5EF4-FFF2-40B4-BE49-F238E27FC236}">
                <a16:creationId xmlns:a16="http://schemas.microsoft.com/office/drawing/2014/main" id="{85FB355B-E695-B671-5060-3AB64216729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E5C16BC-E963-E9FD-D4EE-E8B248F5DBB4}"/>
              </a:ext>
            </a:extLst>
          </p:cNvPr>
          <p:cNvPicPr>
            <a:picLocks noChangeAspect="1"/>
          </p:cNvPicPr>
          <p:nvPr/>
        </p:nvPicPr>
        <p:blipFill>
          <a:blip r:embed="rId2"/>
          <a:stretch>
            <a:fillRect/>
          </a:stretch>
        </p:blipFill>
        <p:spPr>
          <a:xfrm>
            <a:off x="575978" y="844061"/>
            <a:ext cx="5248341" cy="5655849"/>
          </a:xfrm>
          <a:prstGeom prst="rect">
            <a:avLst/>
          </a:prstGeom>
          <a:ln>
            <a:solidFill>
              <a:schemeClr val="tx1"/>
            </a:solidFill>
          </a:ln>
        </p:spPr>
      </p:pic>
      <p:pic>
        <p:nvPicPr>
          <p:cNvPr id="7" name="Picture 6">
            <a:extLst>
              <a:ext uri="{FF2B5EF4-FFF2-40B4-BE49-F238E27FC236}">
                <a16:creationId xmlns:a16="http://schemas.microsoft.com/office/drawing/2014/main" id="{41412A25-3144-647D-E881-36E7C3FF0431}"/>
              </a:ext>
            </a:extLst>
          </p:cNvPr>
          <p:cNvPicPr>
            <a:picLocks noChangeAspect="1"/>
          </p:cNvPicPr>
          <p:nvPr/>
        </p:nvPicPr>
        <p:blipFill>
          <a:blip r:embed="rId3"/>
          <a:stretch>
            <a:fillRect/>
          </a:stretch>
        </p:blipFill>
        <p:spPr>
          <a:xfrm>
            <a:off x="6559012" y="290488"/>
            <a:ext cx="5190653" cy="6209422"/>
          </a:xfrm>
          <a:prstGeom prst="rect">
            <a:avLst/>
          </a:prstGeom>
          <a:ln>
            <a:solidFill>
              <a:schemeClr val="tx1"/>
            </a:solidFill>
          </a:ln>
        </p:spPr>
      </p:pic>
    </p:spTree>
    <p:extLst>
      <p:ext uri="{BB962C8B-B14F-4D97-AF65-F5344CB8AC3E}">
        <p14:creationId xmlns:p14="http://schemas.microsoft.com/office/powerpoint/2010/main" val="3600191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9072-8D4A-46CD-C185-11602AF6A54D}"/>
              </a:ext>
            </a:extLst>
          </p:cNvPr>
          <p:cNvSpPr>
            <a:spLocks noGrp="1"/>
          </p:cNvSpPr>
          <p:nvPr>
            <p:ph type="title"/>
          </p:nvPr>
        </p:nvSpPr>
        <p:spPr>
          <a:xfrm>
            <a:off x="254391" y="315888"/>
            <a:ext cx="8959948" cy="830629"/>
          </a:xfrm>
        </p:spPr>
        <p:txBody>
          <a:bodyPr/>
          <a:lstStyle/>
          <a:p>
            <a:r>
              <a:rPr lang="en-US" dirty="0"/>
              <a:t>Other People Have Made Similar Lists</a:t>
            </a:r>
          </a:p>
        </p:txBody>
      </p:sp>
      <p:sp>
        <p:nvSpPr>
          <p:cNvPr id="3" name="Content Placeholder 2">
            <a:extLst>
              <a:ext uri="{FF2B5EF4-FFF2-40B4-BE49-F238E27FC236}">
                <a16:creationId xmlns:a16="http://schemas.microsoft.com/office/drawing/2014/main" id="{C46BD60E-8992-E552-E419-4F1A2D771CB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55616BE-0E89-CF23-1A1E-296B54A63551}"/>
              </a:ext>
            </a:extLst>
          </p:cNvPr>
          <p:cNvPicPr>
            <a:picLocks noChangeAspect="1"/>
          </p:cNvPicPr>
          <p:nvPr/>
        </p:nvPicPr>
        <p:blipFill>
          <a:blip r:embed="rId2"/>
          <a:stretch>
            <a:fillRect/>
          </a:stretch>
        </p:blipFill>
        <p:spPr>
          <a:xfrm>
            <a:off x="395725" y="1405400"/>
            <a:ext cx="10958075" cy="5191787"/>
          </a:xfrm>
          <a:prstGeom prst="rect">
            <a:avLst/>
          </a:prstGeom>
          <a:ln>
            <a:solidFill>
              <a:schemeClr val="tx1"/>
            </a:solidFill>
          </a:ln>
        </p:spPr>
      </p:pic>
      <p:pic>
        <p:nvPicPr>
          <p:cNvPr id="7" name="Picture 6">
            <a:extLst>
              <a:ext uri="{FF2B5EF4-FFF2-40B4-BE49-F238E27FC236}">
                <a16:creationId xmlns:a16="http://schemas.microsoft.com/office/drawing/2014/main" id="{7BF5BF22-7FA6-F5C6-6F54-230999C50A49}"/>
              </a:ext>
            </a:extLst>
          </p:cNvPr>
          <p:cNvPicPr>
            <a:picLocks noChangeAspect="1"/>
          </p:cNvPicPr>
          <p:nvPr/>
        </p:nvPicPr>
        <p:blipFill>
          <a:blip r:embed="rId3"/>
          <a:stretch>
            <a:fillRect/>
          </a:stretch>
        </p:blipFill>
        <p:spPr>
          <a:xfrm>
            <a:off x="4433121" y="1067868"/>
            <a:ext cx="7504488" cy="4722263"/>
          </a:xfrm>
          <a:prstGeom prst="rect">
            <a:avLst/>
          </a:prstGeom>
          <a:ln>
            <a:solidFill>
              <a:schemeClr val="tx1"/>
            </a:solidFill>
          </a:ln>
        </p:spPr>
      </p:pic>
    </p:spTree>
    <p:extLst>
      <p:ext uri="{BB962C8B-B14F-4D97-AF65-F5344CB8AC3E}">
        <p14:creationId xmlns:p14="http://schemas.microsoft.com/office/powerpoint/2010/main" val="3369537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072CC-E027-EF2C-3598-E27015AA4381}"/>
              </a:ext>
            </a:extLst>
          </p:cNvPr>
          <p:cNvSpPr>
            <a:spLocks noGrp="1"/>
          </p:cNvSpPr>
          <p:nvPr>
            <p:ph type="title"/>
          </p:nvPr>
        </p:nvSpPr>
        <p:spPr>
          <a:xfrm>
            <a:off x="528711" y="243645"/>
            <a:ext cx="7975209" cy="809527"/>
          </a:xfrm>
        </p:spPr>
        <p:txBody>
          <a:bodyPr/>
          <a:lstStyle/>
          <a:p>
            <a:r>
              <a:rPr lang="en-US" dirty="0"/>
              <a:t>t.me/</a:t>
            </a:r>
            <a:r>
              <a:rPr lang="en-US" dirty="0" err="1"/>
              <a:t>LightningFantasy</a:t>
            </a:r>
            <a:endParaRPr lang="en-US" dirty="0"/>
          </a:p>
        </p:txBody>
      </p:sp>
      <p:sp>
        <p:nvSpPr>
          <p:cNvPr id="3" name="Content Placeholder 2">
            <a:extLst>
              <a:ext uri="{FF2B5EF4-FFF2-40B4-BE49-F238E27FC236}">
                <a16:creationId xmlns:a16="http://schemas.microsoft.com/office/drawing/2014/main" id="{D2AE2632-0759-9D2D-1AC4-F3C869A98A7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B7A690C-CA82-600D-40E3-F3E85A0EB629}"/>
              </a:ext>
            </a:extLst>
          </p:cNvPr>
          <p:cNvPicPr>
            <a:picLocks noChangeAspect="1"/>
          </p:cNvPicPr>
          <p:nvPr/>
        </p:nvPicPr>
        <p:blipFill>
          <a:blip r:embed="rId2"/>
          <a:stretch>
            <a:fillRect/>
          </a:stretch>
        </p:blipFill>
        <p:spPr>
          <a:xfrm>
            <a:off x="2749742" y="1111348"/>
            <a:ext cx="6873462" cy="5634110"/>
          </a:xfrm>
          <a:prstGeom prst="rect">
            <a:avLst/>
          </a:prstGeom>
        </p:spPr>
      </p:pic>
    </p:spTree>
    <p:extLst>
      <p:ext uri="{BB962C8B-B14F-4D97-AF65-F5344CB8AC3E}">
        <p14:creationId xmlns:p14="http://schemas.microsoft.com/office/powerpoint/2010/main" val="444621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6907-91BF-D7A4-F95B-18FC615632F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EAD722F-B631-8F85-6E9D-42FCFCE3D063}"/>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A0AB5E1E-98FD-8488-8C63-8FF1EA5EACB6}"/>
              </a:ext>
            </a:extLst>
          </p:cNvPr>
          <p:cNvPicPr>
            <a:picLocks noChangeAspect="1"/>
          </p:cNvPicPr>
          <p:nvPr/>
        </p:nvPicPr>
        <p:blipFill>
          <a:blip r:embed="rId2"/>
          <a:stretch>
            <a:fillRect/>
          </a:stretch>
        </p:blipFill>
        <p:spPr>
          <a:xfrm>
            <a:off x="3338458" y="709951"/>
            <a:ext cx="4374326" cy="5653656"/>
          </a:xfrm>
          <a:prstGeom prst="rect">
            <a:avLst/>
          </a:prstGeom>
        </p:spPr>
      </p:pic>
      <p:pic>
        <p:nvPicPr>
          <p:cNvPr id="11" name="Picture 10">
            <a:extLst>
              <a:ext uri="{FF2B5EF4-FFF2-40B4-BE49-F238E27FC236}">
                <a16:creationId xmlns:a16="http://schemas.microsoft.com/office/drawing/2014/main" id="{11B355D7-7902-F258-DB21-E421375B6050}"/>
              </a:ext>
            </a:extLst>
          </p:cNvPr>
          <p:cNvPicPr>
            <a:picLocks noChangeAspect="1"/>
          </p:cNvPicPr>
          <p:nvPr/>
        </p:nvPicPr>
        <p:blipFill>
          <a:blip r:embed="rId3"/>
          <a:stretch>
            <a:fillRect/>
          </a:stretch>
        </p:blipFill>
        <p:spPr>
          <a:xfrm>
            <a:off x="203200" y="315912"/>
            <a:ext cx="4197472" cy="6342743"/>
          </a:xfrm>
          <a:prstGeom prst="rect">
            <a:avLst/>
          </a:prstGeom>
        </p:spPr>
      </p:pic>
      <p:pic>
        <p:nvPicPr>
          <p:cNvPr id="13" name="Picture 12">
            <a:extLst>
              <a:ext uri="{FF2B5EF4-FFF2-40B4-BE49-F238E27FC236}">
                <a16:creationId xmlns:a16="http://schemas.microsoft.com/office/drawing/2014/main" id="{557AB4BC-4A78-A348-D630-CBA0A4A615B7}"/>
              </a:ext>
            </a:extLst>
          </p:cNvPr>
          <p:cNvPicPr>
            <a:picLocks noChangeAspect="1"/>
          </p:cNvPicPr>
          <p:nvPr/>
        </p:nvPicPr>
        <p:blipFill>
          <a:blip r:embed="rId4"/>
          <a:stretch>
            <a:fillRect/>
          </a:stretch>
        </p:blipFill>
        <p:spPr>
          <a:xfrm>
            <a:off x="7712784" y="580684"/>
            <a:ext cx="4385738" cy="5912191"/>
          </a:xfrm>
          <a:prstGeom prst="rect">
            <a:avLst/>
          </a:prstGeom>
        </p:spPr>
      </p:pic>
    </p:spTree>
    <p:extLst>
      <p:ext uri="{BB962C8B-B14F-4D97-AF65-F5344CB8AC3E}">
        <p14:creationId xmlns:p14="http://schemas.microsoft.com/office/powerpoint/2010/main" val="2281403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4E39-81BD-18F4-C02B-E2DF6504A946}"/>
              </a:ext>
            </a:extLst>
          </p:cNvPr>
          <p:cNvSpPr>
            <a:spLocks noGrp="1"/>
          </p:cNvSpPr>
          <p:nvPr>
            <p:ph type="title"/>
          </p:nvPr>
        </p:nvSpPr>
        <p:spPr/>
        <p:txBody>
          <a:bodyPr/>
          <a:lstStyle/>
          <a:p>
            <a:r>
              <a:rPr lang="en-US" dirty="0"/>
              <a:t>A Tweet</a:t>
            </a:r>
          </a:p>
        </p:txBody>
      </p:sp>
      <p:pic>
        <p:nvPicPr>
          <p:cNvPr id="7" name="Content Placeholder 6">
            <a:extLst>
              <a:ext uri="{FF2B5EF4-FFF2-40B4-BE49-F238E27FC236}">
                <a16:creationId xmlns:a16="http://schemas.microsoft.com/office/drawing/2014/main" id="{D9CC88C6-97CD-C2D9-D219-552E3FD2E091}"/>
              </a:ext>
            </a:extLst>
          </p:cNvPr>
          <p:cNvPicPr>
            <a:picLocks noGrp="1" noChangeAspect="1"/>
          </p:cNvPicPr>
          <p:nvPr>
            <p:ph idx="1"/>
          </p:nvPr>
        </p:nvPicPr>
        <p:blipFill>
          <a:blip r:embed="rId2"/>
          <a:stretch>
            <a:fillRect/>
          </a:stretch>
        </p:blipFill>
        <p:spPr>
          <a:xfrm>
            <a:off x="258708" y="2324327"/>
            <a:ext cx="7378355" cy="4351338"/>
          </a:xfrm>
          <a:prstGeom prst="rect">
            <a:avLst/>
          </a:prstGeom>
          <a:ln>
            <a:solidFill>
              <a:schemeClr val="tx1"/>
            </a:solidFill>
          </a:ln>
        </p:spPr>
      </p:pic>
      <p:pic>
        <p:nvPicPr>
          <p:cNvPr id="5" name="Picture 4">
            <a:extLst>
              <a:ext uri="{FF2B5EF4-FFF2-40B4-BE49-F238E27FC236}">
                <a16:creationId xmlns:a16="http://schemas.microsoft.com/office/drawing/2014/main" id="{349E3FAE-E686-A7E6-187C-4576F7602985}"/>
              </a:ext>
            </a:extLst>
          </p:cNvPr>
          <p:cNvPicPr>
            <a:picLocks noChangeAspect="1"/>
          </p:cNvPicPr>
          <p:nvPr/>
        </p:nvPicPr>
        <p:blipFill>
          <a:blip r:embed="rId3"/>
          <a:stretch>
            <a:fillRect/>
          </a:stretch>
        </p:blipFill>
        <p:spPr>
          <a:xfrm>
            <a:off x="5459664" y="182335"/>
            <a:ext cx="5542164" cy="5413829"/>
          </a:xfrm>
          <a:prstGeom prst="rect">
            <a:avLst/>
          </a:prstGeom>
          <a:ln>
            <a:solidFill>
              <a:schemeClr val="tx1"/>
            </a:solidFill>
          </a:ln>
        </p:spPr>
      </p:pic>
    </p:spTree>
    <p:extLst>
      <p:ext uri="{BB962C8B-B14F-4D97-AF65-F5344CB8AC3E}">
        <p14:creationId xmlns:p14="http://schemas.microsoft.com/office/powerpoint/2010/main" val="3791409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9AF8-15F9-C817-8F8E-0AF4358A67C0}"/>
              </a:ext>
            </a:extLst>
          </p:cNvPr>
          <p:cNvSpPr>
            <a:spLocks noGrp="1"/>
          </p:cNvSpPr>
          <p:nvPr>
            <p:ph type="title"/>
          </p:nvPr>
        </p:nvSpPr>
        <p:spPr/>
        <p:txBody>
          <a:bodyPr/>
          <a:lstStyle/>
          <a:p>
            <a:r>
              <a:rPr lang="en-US" dirty="0"/>
              <a:t>Some Other Points (Quickly I Hope)….</a:t>
            </a:r>
          </a:p>
        </p:txBody>
      </p:sp>
      <p:sp>
        <p:nvSpPr>
          <p:cNvPr id="3" name="Content Placeholder 2">
            <a:extLst>
              <a:ext uri="{FF2B5EF4-FFF2-40B4-BE49-F238E27FC236}">
                <a16:creationId xmlns:a16="http://schemas.microsoft.com/office/drawing/2014/main" id="{F3C007AC-D724-DBA4-BB5F-C31EA8BA57A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52768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1A10-BCFF-A542-615F-4BD3F64E38FB}"/>
              </a:ext>
            </a:extLst>
          </p:cNvPr>
          <p:cNvSpPr>
            <a:spLocks noGrp="1"/>
          </p:cNvSpPr>
          <p:nvPr>
            <p:ph type="title"/>
          </p:nvPr>
        </p:nvSpPr>
        <p:spPr>
          <a:xfrm>
            <a:off x="337458" y="307069"/>
            <a:ext cx="8066314" cy="1100818"/>
          </a:xfrm>
        </p:spPr>
        <p:txBody>
          <a:bodyPr/>
          <a:lstStyle/>
          <a:p>
            <a:r>
              <a:rPr lang="en-US" dirty="0"/>
              <a:t>Lightning Derangement Syndrome</a:t>
            </a:r>
          </a:p>
        </p:txBody>
      </p:sp>
      <p:pic>
        <p:nvPicPr>
          <p:cNvPr id="5" name="Content Placeholder 4">
            <a:extLst>
              <a:ext uri="{FF2B5EF4-FFF2-40B4-BE49-F238E27FC236}">
                <a16:creationId xmlns:a16="http://schemas.microsoft.com/office/drawing/2014/main" id="{CD39BEE1-4B7E-E129-8755-9611E0B924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4314" y="1407887"/>
            <a:ext cx="4669470" cy="4669470"/>
          </a:xfrm>
        </p:spPr>
      </p:pic>
      <p:sp>
        <p:nvSpPr>
          <p:cNvPr id="9" name="Content Placeholder 2">
            <a:extLst>
              <a:ext uri="{FF2B5EF4-FFF2-40B4-BE49-F238E27FC236}">
                <a16:creationId xmlns:a16="http://schemas.microsoft.com/office/drawing/2014/main" id="{CECEBE2A-91BE-2C35-C508-BBAFCAF74138}"/>
              </a:ext>
            </a:extLst>
          </p:cNvPr>
          <p:cNvSpPr txBox="1">
            <a:spLocks/>
          </p:cNvSpPr>
          <p:nvPr/>
        </p:nvSpPr>
        <p:spPr>
          <a:xfrm>
            <a:off x="6096000" y="1332188"/>
            <a:ext cx="5485722" cy="5141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t>Lightning Sucks</a:t>
            </a:r>
          </a:p>
          <a:p>
            <a:pPr marL="514350" indent="-514350">
              <a:buFont typeface="+mj-lt"/>
              <a:buAutoNum type="arabicPeriod"/>
            </a:pPr>
            <a:r>
              <a:rPr lang="en-US" dirty="0"/>
              <a:t>You </a:t>
            </a:r>
            <a:r>
              <a:rPr lang="en-US" i="1" u="sng" dirty="0"/>
              <a:t>tell the truth</a:t>
            </a:r>
            <a:r>
              <a:rPr lang="en-US" dirty="0"/>
              <a:t> about how it sucks.</a:t>
            </a:r>
          </a:p>
          <a:p>
            <a:pPr marL="514350" indent="-514350">
              <a:buFont typeface="+mj-lt"/>
              <a:buAutoNum type="arabicPeriod"/>
            </a:pPr>
            <a:r>
              <a:rPr lang="en-US" dirty="0"/>
              <a:t>People get angry, and defensive, and they say: </a:t>
            </a:r>
            <a:r>
              <a:rPr lang="en-US" i="1" u="sng" dirty="0"/>
              <a:t>you suck</a:t>
            </a:r>
            <a:r>
              <a:rPr lang="en-US" dirty="0"/>
              <a:t>.</a:t>
            </a:r>
          </a:p>
          <a:p>
            <a:endParaRPr lang="en-US" dirty="0"/>
          </a:p>
          <a:p>
            <a:endParaRPr lang="en-US" dirty="0"/>
          </a:p>
          <a:p>
            <a:r>
              <a:rPr lang="en-US" sz="2400" dirty="0"/>
              <a:t>As a result: lightning evades future criticism – because people don’t want to put up with being harassed by idiots.</a:t>
            </a:r>
          </a:p>
          <a:p>
            <a:r>
              <a:rPr lang="en-US" sz="2400" dirty="0"/>
              <a:t>We are all </a:t>
            </a:r>
            <a:r>
              <a:rPr lang="en-US" sz="2400" i="1" u="sng" dirty="0"/>
              <a:t>lying to ourselves</a:t>
            </a:r>
            <a:r>
              <a:rPr lang="en-US" sz="2400" dirty="0"/>
              <a:t>.</a:t>
            </a:r>
          </a:p>
        </p:txBody>
      </p:sp>
    </p:spTree>
    <p:extLst>
      <p:ext uri="{BB962C8B-B14F-4D97-AF65-F5344CB8AC3E}">
        <p14:creationId xmlns:p14="http://schemas.microsoft.com/office/powerpoint/2010/main" val="3239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EBB1D-C1E2-064B-192B-3B9694C5B084}"/>
              </a:ext>
            </a:extLst>
          </p:cNvPr>
          <p:cNvSpPr>
            <a:spLocks noGrp="1"/>
          </p:cNvSpPr>
          <p:nvPr>
            <p:ph type="title"/>
          </p:nvPr>
        </p:nvSpPr>
        <p:spPr>
          <a:xfrm>
            <a:off x="310661" y="1"/>
            <a:ext cx="5288281" cy="1195754"/>
          </a:xfrm>
        </p:spPr>
        <p:txBody>
          <a:bodyPr/>
          <a:lstStyle/>
          <a:p>
            <a:r>
              <a:rPr lang="en-US" dirty="0"/>
              <a:t>Custodial Lightning</a:t>
            </a:r>
          </a:p>
        </p:txBody>
      </p:sp>
      <p:sp>
        <p:nvSpPr>
          <p:cNvPr id="3" name="Content Placeholder 2">
            <a:extLst>
              <a:ext uri="{FF2B5EF4-FFF2-40B4-BE49-F238E27FC236}">
                <a16:creationId xmlns:a16="http://schemas.microsoft.com/office/drawing/2014/main" id="{5B16FF5B-C44C-705A-4553-9E32618EE175}"/>
              </a:ext>
            </a:extLst>
          </p:cNvPr>
          <p:cNvSpPr>
            <a:spLocks noGrp="1"/>
          </p:cNvSpPr>
          <p:nvPr>
            <p:ph idx="1"/>
          </p:nvPr>
        </p:nvSpPr>
        <p:spPr>
          <a:xfrm>
            <a:off x="544569" y="1126095"/>
            <a:ext cx="11102861" cy="2415724"/>
          </a:xfrm>
          <a:ln>
            <a:solidFill>
              <a:schemeClr val="tx1"/>
            </a:solidFill>
          </a:ln>
        </p:spPr>
        <p:txBody>
          <a:bodyPr>
            <a:normAutofit/>
          </a:bodyPr>
          <a:lstStyle/>
          <a:p>
            <a:r>
              <a:rPr lang="en-US" dirty="0"/>
              <a:t>Imagine getting in a “driverless Waymo”…</a:t>
            </a:r>
          </a:p>
          <a:p>
            <a:r>
              <a:rPr lang="en-US" dirty="0"/>
              <a:t>…and yet – lo and behold – a human driver, is in the front seat.</a:t>
            </a:r>
          </a:p>
          <a:p>
            <a:pPr lvl="1"/>
            <a:r>
              <a:rPr lang="en-US" dirty="0"/>
              <a:t>He drives the car to your destination (with his eyes and hands).</a:t>
            </a:r>
          </a:p>
          <a:p>
            <a:r>
              <a:rPr lang="en-US" dirty="0"/>
              <a:t>Finally, as you leave…the driver says: “Waymo is the future of taxis; because a computer can drive cheaper and safer than any human driver”.</a:t>
            </a:r>
          </a:p>
        </p:txBody>
      </p:sp>
      <p:pic>
        <p:nvPicPr>
          <p:cNvPr id="5" name="Picture 4">
            <a:extLst>
              <a:ext uri="{FF2B5EF4-FFF2-40B4-BE49-F238E27FC236}">
                <a16:creationId xmlns:a16="http://schemas.microsoft.com/office/drawing/2014/main" id="{F1A72437-9255-8C99-0C44-41987F47D3EA}"/>
              </a:ext>
            </a:extLst>
          </p:cNvPr>
          <p:cNvPicPr>
            <a:picLocks noChangeAspect="1"/>
          </p:cNvPicPr>
          <p:nvPr/>
        </p:nvPicPr>
        <p:blipFill>
          <a:blip r:embed="rId2"/>
          <a:stretch>
            <a:fillRect/>
          </a:stretch>
        </p:blipFill>
        <p:spPr>
          <a:xfrm>
            <a:off x="310661" y="3626352"/>
            <a:ext cx="6769944" cy="2702325"/>
          </a:xfrm>
          <a:prstGeom prst="rect">
            <a:avLst/>
          </a:prstGeom>
          <a:ln>
            <a:solidFill>
              <a:schemeClr val="tx1"/>
            </a:solidFill>
          </a:ln>
        </p:spPr>
      </p:pic>
      <p:sp>
        <p:nvSpPr>
          <p:cNvPr id="7" name="TextBox 6">
            <a:extLst>
              <a:ext uri="{FF2B5EF4-FFF2-40B4-BE49-F238E27FC236}">
                <a16:creationId xmlns:a16="http://schemas.microsoft.com/office/drawing/2014/main" id="{A5DA823E-15DB-DE5B-26C1-EFBD365805FA}"/>
              </a:ext>
            </a:extLst>
          </p:cNvPr>
          <p:cNvSpPr txBox="1"/>
          <p:nvPr/>
        </p:nvSpPr>
        <p:spPr>
          <a:xfrm>
            <a:off x="7429415" y="3481209"/>
            <a:ext cx="3861582" cy="2031325"/>
          </a:xfrm>
          <a:prstGeom prst="rect">
            <a:avLst/>
          </a:prstGeom>
          <a:noFill/>
          <a:ln>
            <a:solidFill>
              <a:schemeClr val="tx1"/>
            </a:solidFill>
          </a:ln>
        </p:spPr>
        <p:txBody>
          <a:bodyPr wrap="square">
            <a:spAutoFit/>
          </a:bodyPr>
          <a:lstStyle/>
          <a:p>
            <a:r>
              <a:rPr lang="en-US" dirty="0"/>
              <a:t>You would immediately think:</a:t>
            </a:r>
          </a:p>
          <a:p>
            <a:r>
              <a:rPr lang="en-US" b="1" u="sng" dirty="0"/>
              <a:t>“Wow, this guy is SO stupid, that it’s a waste of my time to even talk to him.”</a:t>
            </a:r>
          </a:p>
          <a:p>
            <a:endParaRPr lang="en-US" dirty="0"/>
          </a:p>
          <a:p>
            <a:r>
              <a:rPr lang="en-US" dirty="0"/>
              <a:t>And what would you say? Out loud?</a:t>
            </a:r>
            <a:br>
              <a:rPr lang="en-US" dirty="0"/>
            </a:br>
            <a:r>
              <a:rPr lang="en-US" dirty="0"/>
              <a:t>Probably:</a:t>
            </a:r>
            <a:br>
              <a:rPr lang="en-US" dirty="0"/>
            </a:br>
            <a:r>
              <a:rPr lang="en-US" dirty="0"/>
              <a:t>“Yeah – thank you. See you later! Bye.”</a:t>
            </a:r>
          </a:p>
        </p:txBody>
      </p:sp>
      <p:sp>
        <p:nvSpPr>
          <p:cNvPr id="9" name="TextBox 8">
            <a:extLst>
              <a:ext uri="{FF2B5EF4-FFF2-40B4-BE49-F238E27FC236}">
                <a16:creationId xmlns:a16="http://schemas.microsoft.com/office/drawing/2014/main" id="{22571A6B-3EC4-EB14-2FED-203A98723966}"/>
              </a:ext>
            </a:extLst>
          </p:cNvPr>
          <p:cNvSpPr txBox="1"/>
          <p:nvPr/>
        </p:nvSpPr>
        <p:spPr>
          <a:xfrm>
            <a:off x="717452" y="6413210"/>
            <a:ext cx="10506221" cy="369332"/>
          </a:xfrm>
          <a:prstGeom prst="rect">
            <a:avLst/>
          </a:prstGeom>
          <a:noFill/>
          <a:ln>
            <a:solidFill>
              <a:schemeClr val="tx1"/>
            </a:solidFill>
          </a:ln>
        </p:spPr>
        <p:txBody>
          <a:bodyPr wrap="square">
            <a:spAutoFit/>
          </a:bodyPr>
          <a:lstStyle/>
          <a:p>
            <a:r>
              <a:rPr lang="en-US" dirty="0"/>
              <a:t>When we are born, we cry – that we are come to this great stage of fools. – William Shakespeare</a:t>
            </a:r>
          </a:p>
        </p:txBody>
      </p:sp>
      <p:sp>
        <p:nvSpPr>
          <p:cNvPr id="10" name="TextBox 9">
            <a:extLst>
              <a:ext uri="{FF2B5EF4-FFF2-40B4-BE49-F238E27FC236}">
                <a16:creationId xmlns:a16="http://schemas.microsoft.com/office/drawing/2014/main" id="{5B3CFA87-7154-B337-CDF4-3A7CED3156A0}"/>
              </a:ext>
            </a:extLst>
          </p:cNvPr>
          <p:cNvSpPr txBox="1"/>
          <p:nvPr/>
        </p:nvSpPr>
        <p:spPr>
          <a:xfrm>
            <a:off x="7344229" y="5639706"/>
            <a:ext cx="4448628" cy="646331"/>
          </a:xfrm>
          <a:prstGeom prst="rect">
            <a:avLst/>
          </a:prstGeom>
          <a:noFill/>
          <a:ln>
            <a:solidFill>
              <a:schemeClr val="tx1"/>
            </a:solidFill>
          </a:ln>
        </p:spPr>
        <p:txBody>
          <a:bodyPr wrap="square">
            <a:spAutoFit/>
          </a:bodyPr>
          <a:lstStyle/>
          <a:p>
            <a:r>
              <a:rPr lang="en-US" dirty="0"/>
              <a:t>Custodial = all the proof of work, blockchain, key management – it is all a waste.</a:t>
            </a:r>
          </a:p>
        </p:txBody>
      </p:sp>
    </p:spTree>
    <p:extLst>
      <p:ext uri="{BB962C8B-B14F-4D97-AF65-F5344CB8AC3E}">
        <p14:creationId xmlns:p14="http://schemas.microsoft.com/office/powerpoint/2010/main" val="3536223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4C819-A59A-2B70-8808-2113B19351FC}"/>
              </a:ext>
            </a:extLst>
          </p:cNvPr>
          <p:cNvSpPr>
            <a:spLocks noGrp="1"/>
          </p:cNvSpPr>
          <p:nvPr>
            <p:ph type="title"/>
          </p:nvPr>
        </p:nvSpPr>
        <p:spPr>
          <a:xfrm>
            <a:off x="169984" y="0"/>
            <a:ext cx="4648201" cy="1153551"/>
          </a:xfrm>
        </p:spPr>
        <p:txBody>
          <a:bodyPr/>
          <a:lstStyle/>
          <a:p>
            <a:r>
              <a:rPr lang="en-US" dirty="0"/>
              <a:t>Types of Problems</a:t>
            </a:r>
          </a:p>
        </p:txBody>
      </p:sp>
      <p:sp>
        <p:nvSpPr>
          <p:cNvPr id="3" name="Content Placeholder 2">
            <a:extLst>
              <a:ext uri="{FF2B5EF4-FFF2-40B4-BE49-F238E27FC236}">
                <a16:creationId xmlns:a16="http://schemas.microsoft.com/office/drawing/2014/main" id="{060A661D-4A11-1433-73B7-69E6547C88FC}"/>
              </a:ext>
            </a:extLst>
          </p:cNvPr>
          <p:cNvSpPr>
            <a:spLocks noGrp="1"/>
          </p:cNvSpPr>
          <p:nvPr>
            <p:ph idx="1"/>
          </p:nvPr>
        </p:nvSpPr>
        <p:spPr>
          <a:xfrm>
            <a:off x="739725" y="1041009"/>
            <a:ext cx="10901289" cy="5683348"/>
          </a:xfrm>
        </p:spPr>
        <p:txBody>
          <a:bodyPr>
            <a:normAutofit fontScale="92500"/>
          </a:bodyPr>
          <a:lstStyle/>
          <a:p>
            <a:r>
              <a:rPr lang="en-US" dirty="0"/>
              <a:t>Every new technology has problems.</a:t>
            </a:r>
          </a:p>
          <a:p>
            <a:r>
              <a:rPr lang="en-US" dirty="0"/>
              <a:t>Examples of </a:t>
            </a:r>
            <a:r>
              <a:rPr lang="en-US" i="1" u="sng" dirty="0"/>
              <a:t>unrelated</a:t>
            </a:r>
            <a:r>
              <a:rPr lang="en-US" dirty="0"/>
              <a:t> (normal) problems:</a:t>
            </a:r>
          </a:p>
          <a:p>
            <a:pPr lvl="1"/>
            <a:r>
              <a:rPr lang="en-US" dirty="0"/>
              <a:t>“We hired the wrong guy, he had a bad work ethic. We fired him, but it has set us 4 months behind schedule.”</a:t>
            </a:r>
          </a:p>
          <a:p>
            <a:pPr lvl="1"/>
            <a:r>
              <a:rPr lang="en-US" dirty="0"/>
              <a:t>“The idea is new, and our customers aren’t used to it yet.”</a:t>
            </a:r>
          </a:p>
          <a:p>
            <a:pPr lvl="1"/>
            <a:r>
              <a:rPr lang="en-US" dirty="0"/>
              <a:t>“I underestimated how much work it would be to finish.”</a:t>
            </a:r>
          </a:p>
          <a:p>
            <a:r>
              <a:rPr lang="en-US" dirty="0"/>
              <a:t>In contrast, these are examples of a problem </a:t>
            </a:r>
            <a:r>
              <a:rPr lang="en-US" i="1" u="sng" dirty="0"/>
              <a:t>related to the heart of the idea</a:t>
            </a:r>
            <a:r>
              <a:rPr lang="en-US" dirty="0"/>
              <a:t>:</a:t>
            </a:r>
          </a:p>
          <a:p>
            <a:pPr lvl="1"/>
            <a:r>
              <a:rPr lang="en-US" dirty="0"/>
              <a:t>“Hi everyone, </a:t>
            </a:r>
            <a:r>
              <a:rPr lang="en-US" i="1" u="sng" dirty="0"/>
              <a:t>we just noticed</a:t>
            </a:r>
            <a:r>
              <a:rPr lang="en-US" dirty="0"/>
              <a:t> that it is possible to attack a lightning channel by doing </a:t>
            </a:r>
            <a:r>
              <a:rPr lang="en-US" i="1" u="sng" dirty="0"/>
              <a:t>New Thing XYZ</a:t>
            </a:r>
            <a:r>
              <a:rPr lang="en-US" dirty="0"/>
              <a:t>. This attack imposes a new cost (or risk) </a:t>
            </a:r>
            <a:r>
              <a:rPr lang="en-US" i="1" u="sng" dirty="0"/>
              <a:t>on the channel-owner</a:t>
            </a:r>
            <a:r>
              <a:rPr lang="en-US" dirty="0"/>
              <a:t>. Luckily, we can fix the problem (I think) with </a:t>
            </a:r>
            <a:r>
              <a:rPr lang="en-US" i="1" u="sng" dirty="0"/>
              <a:t>New Complex ABC solution</a:t>
            </a:r>
            <a:r>
              <a:rPr lang="en-US" dirty="0"/>
              <a:t> (which is also brand new and you’re all hearing about it for the first time, right now).”</a:t>
            </a:r>
          </a:p>
          <a:p>
            <a:r>
              <a:rPr lang="en-US" dirty="0"/>
              <a:t>The LN problems (pinning, liquidity, flood-and-loot, </a:t>
            </a:r>
            <a:r>
              <a:rPr lang="en-US" dirty="0" err="1"/>
              <a:t>etc</a:t>
            </a:r>
            <a:r>
              <a:rPr lang="en-US" dirty="0"/>
              <a:t>) are this second type.</a:t>
            </a:r>
          </a:p>
          <a:p>
            <a:r>
              <a:rPr lang="en-US" dirty="0"/>
              <a:t>“Vitalik has said he will fix it” | </a:t>
            </a:r>
            <a:r>
              <a:rPr lang="en-US" dirty="0" err="1"/>
              <a:t>BitShares</a:t>
            </a:r>
            <a:r>
              <a:rPr lang="en-US" dirty="0"/>
              <a:t> technical whack-a-mole.</a:t>
            </a:r>
          </a:p>
        </p:txBody>
      </p:sp>
    </p:spTree>
    <p:extLst>
      <p:ext uri="{BB962C8B-B14F-4D97-AF65-F5344CB8AC3E}">
        <p14:creationId xmlns:p14="http://schemas.microsoft.com/office/powerpoint/2010/main" val="2107475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44A9D03-4BA2-AD53-70D8-37528225C2F4}"/>
              </a:ext>
            </a:extLst>
          </p:cNvPr>
          <p:cNvGraphicFramePr>
            <a:graphicFrameLocks noGrp="1"/>
          </p:cNvGraphicFramePr>
          <p:nvPr>
            <p:ph idx="1"/>
            <p:extLst>
              <p:ext uri="{D42A27DB-BD31-4B8C-83A1-F6EECF244321}">
                <p14:modId xmlns:p14="http://schemas.microsoft.com/office/powerpoint/2010/main" val="3899858498"/>
              </p:ext>
            </p:extLst>
          </p:nvPr>
        </p:nvGraphicFramePr>
        <p:xfrm>
          <a:off x="557433" y="378053"/>
          <a:ext cx="11077134" cy="6384117"/>
        </p:xfrm>
        <a:graphic>
          <a:graphicData uri="http://schemas.openxmlformats.org/drawingml/2006/table">
            <a:tbl>
              <a:tblPr firstRow="1" bandRow="1">
                <a:tableStyleId>{5C22544A-7EE6-4342-B048-85BDC9FD1C3A}</a:tableStyleId>
              </a:tblPr>
              <a:tblGrid>
                <a:gridCol w="1724610">
                  <a:extLst>
                    <a:ext uri="{9D8B030D-6E8A-4147-A177-3AD203B41FA5}">
                      <a16:colId xmlns:a16="http://schemas.microsoft.com/office/drawing/2014/main" val="3162195983"/>
                    </a:ext>
                  </a:extLst>
                </a:gridCol>
                <a:gridCol w="9352524">
                  <a:extLst>
                    <a:ext uri="{9D8B030D-6E8A-4147-A177-3AD203B41FA5}">
                      <a16:colId xmlns:a16="http://schemas.microsoft.com/office/drawing/2014/main" val="3541833623"/>
                    </a:ext>
                  </a:extLst>
                </a:gridCol>
              </a:tblGrid>
              <a:tr h="370868">
                <a:tc>
                  <a:txBody>
                    <a:bodyPr/>
                    <a:lstStyle/>
                    <a:p>
                      <a:r>
                        <a:rPr lang="en-US" dirty="0"/>
                        <a:t>Date</a:t>
                      </a:r>
                    </a:p>
                  </a:txBody>
                  <a:tcPr/>
                </a:tc>
                <a:tc>
                  <a:txBody>
                    <a:bodyPr/>
                    <a:lstStyle/>
                    <a:p>
                      <a:r>
                        <a:rPr lang="en-US" dirty="0"/>
                        <a:t>Event</a:t>
                      </a:r>
                    </a:p>
                  </a:txBody>
                  <a:tcPr/>
                </a:tc>
                <a:extLst>
                  <a:ext uri="{0D108BD9-81ED-4DB2-BD59-A6C34878D82A}">
                    <a16:rowId xmlns:a16="http://schemas.microsoft.com/office/drawing/2014/main" val="4212414879"/>
                  </a:ext>
                </a:extLst>
              </a:tr>
              <a:tr h="647282">
                <a:tc>
                  <a:txBody>
                    <a:bodyPr/>
                    <a:lstStyle/>
                    <a:p>
                      <a:r>
                        <a:rPr lang="en-US" b="1" dirty="0"/>
                        <a:t>2003–2004</a:t>
                      </a:r>
                      <a:endParaRPr lang="en-US" dirty="0"/>
                    </a:p>
                  </a:txBody>
                  <a:tcPr/>
                </a:tc>
                <a:tc>
                  <a:txBody>
                    <a:bodyPr/>
                    <a:lstStyle/>
                    <a:p>
                      <a:r>
                        <a:rPr lang="en-US" dirty="0"/>
                        <a:t>Elizabeth Holmes</a:t>
                      </a:r>
                      <a:r>
                        <a:rPr lang="en-US" baseline="0" dirty="0"/>
                        <a:t> founds Theranos as </a:t>
                      </a:r>
                      <a:r>
                        <a:rPr lang="en-US" dirty="0"/>
                        <a:t>a 19-year-old Stanford dropout.</a:t>
                      </a:r>
                      <a:r>
                        <a:rPr lang="en-US" baseline="0" dirty="0"/>
                        <a:t> It promises to </a:t>
                      </a:r>
                      <a:r>
                        <a:rPr lang="en-US" dirty="0"/>
                        <a:t>perform hundreds of blood tests with just a finger prick of blood.</a:t>
                      </a:r>
                    </a:p>
                  </a:txBody>
                  <a:tcPr/>
                </a:tc>
                <a:extLst>
                  <a:ext uri="{0D108BD9-81ED-4DB2-BD59-A6C34878D82A}">
                    <a16:rowId xmlns:a16="http://schemas.microsoft.com/office/drawing/2014/main" val="3169537802"/>
                  </a:ext>
                </a:extLst>
              </a:tr>
              <a:tr h="390525">
                <a:tc>
                  <a:txBody>
                    <a:bodyPr/>
                    <a:lstStyle/>
                    <a:p>
                      <a:r>
                        <a:rPr lang="en-US" b="1" dirty="0"/>
                        <a:t>2004–2007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Raises $6.9 million at a </a:t>
                      </a:r>
                      <a:r>
                        <a:rPr lang="en-US" i="1" u="sng" dirty="0"/>
                        <a:t>$30 million valuation</a:t>
                      </a:r>
                      <a:r>
                        <a:rPr lang="en-US" dirty="0"/>
                        <a:t>; by 2007, raises $43 million at</a:t>
                      </a:r>
                      <a:r>
                        <a:rPr lang="en-US" baseline="0" dirty="0"/>
                        <a:t> </a:t>
                      </a:r>
                      <a:r>
                        <a:rPr lang="en-US" i="1" u="sng" dirty="0"/>
                        <a:t>$197 million</a:t>
                      </a:r>
                      <a:r>
                        <a:rPr lang="en-US" dirty="0"/>
                        <a:t> valuation.</a:t>
                      </a:r>
                    </a:p>
                  </a:txBody>
                  <a:tcPr/>
                </a:tc>
                <a:extLst>
                  <a:ext uri="{0D108BD9-81ED-4DB2-BD59-A6C34878D82A}">
                    <a16:rowId xmlns:a16="http://schemas.microsoft.com/office/drawing/2014/main" val="2798362971"/>
                  </a:ext>
                </a:extLst>
              </a:tr>
              <a:tr h="940652">
                <a:tc>
                  <a:txBody>
                    <a:bodyPr/>
                    <a:lstStyle/>
                    <a:p>
                      <a:r>
                        <a:rPr lang="en-US" b="1" dirty="0"/>
                        <a:t>2009–2011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Holmes recruits a star-studded board—former Secretaries of State Henry Kissinger and George Shultz, General Jim Mattis, and former top executives like Richard Kovacevich. This lends enormous credibility to Theranos despite their lack of scientific expertise.</a:t>
                      </a:r>
                    </a:p>
                  </a:txBody>
                  <a:tcPr/>
                </a:tc>
                <a:extLst>
                  <a:ext uri="{0D108BD9-81ED-4DB2-BD59-A6C34878D82A}">
                    <a16:rowId xmlns:a16="http://schemas.microsoft.com/office/drawing/2014/main" val="2105502479"/>
                  </a:ext>
                </a:extLst>
              </a:tr>
              <a:tr h="3714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2010</a:t>
                      </a:r>
                      <a:endParaRPr lang="en-US" dirty="0"/>
                    </a:p>
                  </a:txBody>
                  <a:tcPr/>
                </a:tc>
                <a:tc>
                  <a:txBody>
                    <a:bodyPr/>
                    <a:lstStyle/>
                    <a:p>
                      <a:r>
                        <a:rPr lang="en-US" dirty="0"/>
                        <a:t>Theranos achieves a </a:t>
                      </a:r>
                      <a:r>
                        <a:rPr lang="en-US" b="0" i="1" u="sng" dirty="0"/>
                        <a:t>$1 billion valuation </a:t>
                      </a:r>
                      <a:r>
                        <a:rPr lang="en-US" dirty="0"/>
                        <a:t>by 2010 as it continued raising funds.</a:t>
                      </a:r>
                    </a:p>
                  </a:txBody>
                  <a:tcPr/>
                </a:tc>
                <a:extLst>
                  <a:ext uri="{0D108BD9-81ED-4DB2-BD59-A6C34878D82A}">
                    <a16:rowId xmlns:a16="http://schemas.microsoft.com/office/drawing/2014/main" val="2760494223"/>
                  </a:ext>
                </a:extLst>
              </a:tr>
              <a:tr h="9791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2013: Public Launch and Media Blitz</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Theranos emerged from stealth mode with a strategic PR wave. Holmes appeared in major outlets like Fortune, Forbes, and TEDMED, presenting herself as a visionary. The press mostly echoed the company’s claims without peer-reviewed validation.</a:t>
                      </a:r>
                    </a:p>
                  </a:txBody>
                  <a:tcPr/>
                </a:tc>
                <a:extLst>
                  <a:ext uri="{0D108BD9-81ED-4DB2-BD59-A6C34878D82A}">
                    <a16:rowId xmlns:a16="http://schemas.microsoft.com/office/drawing/2014/main" val="3152340856"/>
                  </a:ext>
                </a:extLst>
              </a:tr>
              <a:tr h="1495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2014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(10</a:t>
                      </a:r>
                      <a:r>
                        <a:rPr lang="en-US" b="0" baseline="0" dirty="0"/>
                        <a:t> years in)</a:t>
                      </a:r>
                      <a:endParaRPr lang="en-US"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Theranos reached an almost $9–10 billion valuation, raising over $400 million in funding and making Holmes one of the richest self-made women on paper. High-profile investors such as Rupert Murdoch, the DeVos family, and the Walton family each invested tens to hundreds of millions of dollars. Walgreens and Safeway signed partnerships to bring Theranos tests to retail clinics. This is seen as proof of scalability and trustworthiness.</a:t>
                      </a:r>
                    </a:p>
                  </a:txBody>
                  <a:tcPr/>
                </a:tc>
                <a:extLst>
                  <a:ext uri="{0D108BD9-81ED-4DB2-BD59-A6C34878D82A}">
                    <a16:rowId xmlns:a16="http://schemas.microsoft.com/office/drawing/2014/main" val="3826079037"/>
                  </a:ext>
                </a:extLst>
              </a:tr>
              <a:tr h="11603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Early to Mid-2015: Mainstream Acceptance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company’s technology was increasingly adopted in pilot programs. Health insurer Capital BlueCross designated Theranos as a preferred lab provider for 725,000 customers in Pennsylvania—one of several corporate deals suggesting industry validation. The firm advertised performing over 200 tests from a few drops of blood.</a:t>
                      </a:r>
                    </a:p>
                  </a:txBody>
                  <a:tcPr/>
                </a:tc>
                <a:extLst>
                  <a:ext uri="{0D108BD9-81ED-4DB2-BD59-A6C34878D82A}">
                    <a16:rowId xmlns:a16="http://schemas.microsoft.com/office/drawing/2014/main" val="2368140746"/>
                  </a:ext>
                </a:extLst>
              </a:tr>
            </a:tbl>
          </a:graphicData>
        </a:graphic>
      </p:graphicFrame>
      <p:sp>
        <p:nvSpPr>
          <p:cNvPr id="2" name="Title 1">
            <a:extLst>
              <a:ext uri="{FF2B5EF4-FFF2-40B4-BE49-F238E27FC236}">
                <a16:creationId xmlns:a16="http://schemas.microsoft.com/office/drawing/2014/main" id="{4BB984B4-66AC-8FD6-6368-8132FC701E47}"/>
              </a:ext>
            </a:extLst>
          </p:cNvPr>
          <p:cNvSpPr>
            <a:spLocks noGrp="1"/>
          </p:cNvSpPr>
          <p:nvPr>
            <p:ph type="title"/>
          </p:nvPr>
        </p:nvSpPr>
        <p:spPr>
          <a:xfrm>
            <a:off x="4644738" y="59482"/>
            <a:ext cx="5907146" cy="637142"/>
          </a:xfrm>
          <a:solidFill>
            <a:srgbClr val="FFFFFF"/>
          </a:solidFill>
          <a:ln>
            <a:solidFill>
              <a:schemeClr val="tx1"/>
            </a:solidFill>
          </a:ln>
        </p:spPr>
        <p:txBody>
          <a:bodyPr>
            <a:normAutofit fontScale="90000"/>
          </a:bodyPr>
          <a:lstStyle/>
          <a:p>
            <a:r>
              <a:rPr lang="en-US" dirty="0"/>
              <a:t>The Appearance of Success</a:t>
            </a:r>
          </a:p>
        </p:txBody>
      </p:sp>
    </p:spTree>
    <p:extLst>
      <p:ext uri="{BB962C8B-B14F-4D97-AF65-F5344CB8AC3E}">
        <p14:creationId xmlns:p14="http://schemas.microsoft.com/office/powerpoint/2010/main" val="1685835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206D-BAD0-9831-C035-619633D0B7B8}"/>
              </a:ext>
            </a:extLst>
          </p:cNvPr>
          <p:cNvSpPr>
            <a:spLocks noGrp="1"/>
          </p:cNvSpPr>
          <p:nvPr>
            <p:ph type="title"/>
          </p:nvPr>
        </p:nvSpPr>
        <p:spPr>
          <a:xfrm>
            <a:off x="504371" y="301170"/>
            <a:ext cx="2993571" cy="933904"/>
          </a:xfrm>
        </p:spPr>
        <p:txBody>
          <a:bodyPr/>
          <a:lstStyle/>
          <a:p>
            <a:r>
              <a:rPr lang="en-US" dirty="0"/>
              <a:t>Simulation</a:t>
            </a:r>
          </a:p>
        </p:txBody>
      </p:sp>
      <p:sp>
        <p:nvSpPr>
          <p:cNvPr id="3" name="Content Placeholder 2">
            <a:extLst>
              <a:ext uri="{FF2B5EF4-FFF2-40B4-BE49-F238E27FC236}">
                <a16:creationId xmlns:a16="http://schemas.microsoft.com/office/drawing/2014/main" id="{C7627BD8-28FD-869B-E48E-843688132F07}"/>
              </a:ext>
            </a:extLst>
          </p:cNvPr>
          <p:cNvSpPr>
            <a:spLocks noGrp="1"/>
          </p:cNvSpPr>
          <p:nvPr>
            <p:ph idx="1"/>
          </p:nvPr>
        </p:nvSpPr>
        <p:spPr>
          <a:xfrm>
            <a:off x="838200" y="1502229"/>
            <a:ext cx="10515600" cy="4674734"/>
          </a:xfrm>
        </p:spPr>
        <p:txBody>
          <a:bodyPr/>
          <a:lstStyle/>
          <a:p>
            <a:r>
              <a:rPr lang="en-US" dirty="0"/>
              <a:t>With drivechain / Bip300 – I have actually simulated what the L2 network would look like, with 8 billion daily users.</a:t>
            </a:r>
          </a:p>
          <a:p>
            <a:r>
              <a:rPr lang="en-US" dirty="0"/>
              <a:t>As a result, we can actually see:</a:t>
            </a:r>
          </a:p>
          <a:p>
            <a:pPr lvl="1"/>
            <a:r>
              <a:rPr lang="en-US" dirty="0"/>
              <a:t>How many coins are on each L2?</a:t>
            </a:r>
          </a:p>
          <a:p>
            <a:pPr lvl="1"/>
            <a:r>
              <a:rPr lang="en-US" dirty="0"/>
              <a:t>What Txn fee does each user pay?</a:t>
            </a:r>
          </a:p>
          <a:p>
            <a:pPr lvl="1"/>
            <a:r>
              <a:rPr lang="en-US" dirty="0"/>
              <a:t>How does the software perform?</a:t>
            </a:r>
          </a:p>
          <a:p>
            <a:pPr lvl="1"/>
            <a:r>
              <a:rPr lang="en-US" dirty="0"/>
              <a:t>What are the bandwidth requirements and full node requirements?</a:t>
            </a:r>
          </a:p>
          <a:p>
            <a:pPr lvl="1"/>
            <a:r>
              <a:rPr lang="en-US" dirty="0"/>
              <a:t>What is the ratio of L2 txns to L1 txns?</a:t>
            </a:r>
          </a:p>
          <a:p>
            <a:pPr lvl="1"/>
            <a:r>
              <a:rPr lang="en-US" dirty="0"/>
              <a:t>How much revenue is earned by miners?</a:t>
            </a:r>
          </a:p>
          <a:p>
            <a:r>
              <a:rPr lang="en-US" dirty="0"/>
              <a:t>Why doesn’t lightning do this? (Because it’s </a:t>
            </a:r>
            <a:r>
              <a:rPr lang="en-US" i="1" u="sng" dirty="0"/>
              <a:t>not even possible</a:t>
            </a:r>
            <a:r>
              <a:rPr lang="en-US" dirty="0"/>
              <a:t>.)</a:t>
            </a:r>
          </a:p>
        </p:txBody>
      </p:sp>
    </p:spTree>
    <p:extLst>
      <p:ext uri="{BB962C8B-B14F-4D97-AF65-F5344CB8AC3E}">
        <p14:creationId xmlns:p14="http://schemas.microsoft.com/office/powerpoint/2010/main" val="29903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E2E5-2153-1A5B-1DBB-D75FF5257EC8}"/>
              </a:ext>
            </a:extLst>
          </p:cNvPr>
          <p:cNvSpPr>
            <a:spLocks noGrp="1"/>
          </p:cNvSpPr>
          <p:nvPr>
            <p:ph type="title"/>
          </p:nvPr>
        </p:nvSpPr>
        <p:spPr>
          <a:xfrm>
            <a:off x="838199" y="394493"/>
            <a:ext cx="10885843" cy="1325563"/>
          </a:xfrm>
        </p:spPr>
        <p:txBody>
          <a:bodyPr/>
          <a:lstStyle/>
          <a:p>
            <a:r>
              <a:rPr lang="en-US" dirty="0"/>
              <a:t>“But -- users don’t </a:t>
            </a:r>
            <a:r>
              <a:rPr lang="en-US" i="1" u="sng" dirty="0"/>
              <a:t>want</a:t>
            </a:r>
            <a:r>
              <a:rPr lang="en-US" dirty="0"/>
              <a:t> to use Bitcoin to transact. They use it as a store of v--”</a:t>
            </a:r>
          </a:p>
        </p:txBody>
      </p:sp>
      <p:sp>
        <p:nvSpPr>
          <p:cNvPr id="3" name="Content Placeholder 2">
            <a:extLst>
              <a:ext uri="{FF2B5EF4-FFF2-40B4-BE49-F238E27FC236}">
                <a16:creationId xmlns:a16="http://schemas.microsoft.com/office/drawing/2014/main" id="{5B524AAC-23CA-934F-D047-8CAD0A9305CA}"/>
              </a:ext>
            </a:extLst>
          </p:cNvPr>
          <p:cNvSpPr>
            <a:spLocks noGrp="1"/>
          </p:cNvSpPr>
          <p:nvPr>
            <p:ph idx="1"/>
          </p:nvPr>
        </p:nvSpPr>
        <p:spPr>
          <a:xfrm>
            <a:off x="1170361" y="2553737"/>
            <a:ext cx="5041753" cy="3607577"/>
          </a:xfrm>
        </p:spPr>
        <p:txBody>
          <a:bodyPr>
            <a:normAutofit/>
          </a:bodyPr>
          <a:lstStyle/>
          <a:p>
            <a:pPr marL="0" indent="0">
              <a:buNone/>
            </a:pPr>
            <a:r>
              <a:rPr lang="en-US" dirty="0"/>
              <a:t>Well just don’t talk about lightning then!</a:t>
            </a:r>
          </a:p>
          <a:p>
            <a:pPr marL="0" indent="0">
              <a:buNone/>
            </a:pPr>
            <a:endParaRPr lang="en-US" dirty="0"/>
          </a:p>
          <a:p>
            <a:pPr marL="0" indent="0">
              <a:buNone/>
            </a:pPr>
            <a:r>
              <a:rPr lang="en-US" sz="2000" dirty="0"/>
              <a:t>Reality: This is cope/lame. Blame the users! For your shitty product. Anything to </a:t>
            </a:r>
            <a:r>
              <a:rPr lang="en-US" sz="2000" i="1" u="sng" dirty="0"/>
              <a:t>evade taking responsibility</a:t>
            </a:r>
            <a:r>
              <a:rPr lang="en-US" sz="2000" dirty="0"/>
              <a:t>.</a:t>
            </a:r>
          </a:p>
        </p:txBody>
      </p:sp>
      <p:pic>
        <p:nvPicPr>
          <p:cNvPr id="10" name="Picture 9">
            <a:extLst>
              <a:ext uri="{FF2B5EF4-FFF2-40B4-BE49-F238E27FC236}">
                <a16:creationId xmlns:a16="http://schemas.microsoft.com/office/drawing/2014/main" id="{5EAB5F14-00C9-8277-E9B9-1872B5C1F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9850" y="1825623"/>
            <a:ext cx="4456907" cy="4456907"/>
          </a:xfrm>
          <a:prstGeom prst="rect">
            <a:avLst/>
          </a:prstGeom>
        </p:spPr>
      </p:pic>
    </p:spTree>
    <p:extLst>
      <p:ext uri="{BB962C8B-B14F-4D97-AF65-F5344CB8AC3E}">
        <p14:creationId xmlns:p14="http://schemas.microsoft.com/office/powerpoint/2010/main" val="1053712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07DA2-7BD7-A632-3E51-A206C0471127}"/>
              </a:ext>
            </a:extLst>
          </p:cNvPr>
          <p:cNvSpPr>
            <a:spLocks noGrp="1"/>
          </p:cNvSpPr>
          <p:nvPr>
            <p:ph type="title"/>
          </p:nvPr>
        </p:nvSpPr>
        <p:spPr>
          <a:xfrm>
            <a:off x="297544" y="285297"/>
            <a:ext cx="1930400" cy="2095046"/>
          </a:xfrm>
        </p:spPr>
        <p:txBody>
          <a:bodyPr/>
          <a:lstStyle/>
          <a:p>
            <a:r>
              <a:rPr lang="en-US" dirty="0"/>
              <a:t>Make Your Choice</a:t>
            </a:r>
          </a:p>
        </p:txBody>
      </p:sp>
      <p:graphicFrame>
        <p:nvGraphicFramePr>
          <p:cNvPr id="4" name="Content Placeholder 3">
            <a:extLst>
              <a:ext uri="{FF2B5EF4-FFF2-40B4-BE49-F238E27FC236}">
                <a16:creationId xmlns:a16="http://schemas.microsoft.com/office/drawing/2014/main" id="{44324191-D0A6-67B2-68C9-90DFA0659226}"/>
              </a:ext>
            </a:extLst>
          </p:cNvPr>
          <p:cNvGraphicFramePr>
            <a:graphicFrameLocks noGrp="1"/>
          </p:cNvGraphicFramePr>
          <p:nvPr>
            <p:ph idx="1"/>
            <p:extLst>
              <p:ext uri="{D42A27DB-BD31-4B8C-83A1-F6EECF244321}">
                <p14:modId xmlns:p14="http://schemas.microsoft.com/office/powerpoint/2010/main" val="2282170371"/>
              </p:ext>
            </p:extLst>
          </p:nvPr>
        </p:nvGraphicFramePr>
        <p:xfrm>
          <a:off x="2452915" y="138989"/>
          <a:ext cx="9557656" cy="6580022"/>
        </p:xfrm>
        <a:graphic>
          <a:graphicData uri="http://schemas.openxmlformats.org/drawingml/2006/table">
            <a:tbl>
              <a:tblPr firstRow="1" bandRow="1">
                <a:tableStyleId>{5C22544A-7EE6-4342-B048-85BDC9FD1C3A}</a:tableStyleId>
              </a:tblPr>
              <a:tblGrid>
                <a:gridCol w="4778828">
                  <a:extLst>
                    <a:ext uri="{9D8B030D-6E8A-4147-A177-3AD203B41FA5}">
                      <a16:colId xmlns:a16="http://schemas.microsoft.com/office/drawing/2014/main" val="3311631486"/>
                    </a:ext>
                  </a:extLst>
                </a:gridCol>
                <a:gridCol w="4778828">
                  <a:extLst>
                    <a:ext uri="{9D8B030D-6E8A-4147-A177-3AD203B41FA5}">
                      <a16:colId xmlns:a16="http://schemas.microsoft.com/office/drawing/2014/main" val="3203469315"/>
                    </a:ext>
                  </a:extLst>
                </a:gridCol>
              </a:tblGrid>
              <a:tr h="425906">
                <a:tc>
                  <a:txBody>
                    <a:bodyPr/>
                    <a:lstStyle/>
                    <a:p>
                      <a:r>
                        <a:rPr lang="en-US" sz="2800" dirty="0"/>
                        <a:t>Orthodox</a:t>
                      </a:r>
                      <a:r>
                        <a:rPr lang="en-US" sz="2800" baseline="0" dirty="0"/>
                        <a:t> View</a:t>
                      </a:r>
                      <a:endParaRPr lang="en-US" sz="2800" dirty="0"/>
                    </a:p>
                  </a:txBody>
                  <a:tcPr/>
                </a:tc>
                <a:tc>
                  <a:txBody>
                    <a:bodyPr/>
                    <a:lstStyle/>
                    <a:p>
                      <a:r>
                        <a:rPr lang="en-US" sz="2800" dirty="0"/>
                        <a:t>My Alternative</a:t>
                      </a:r>
                    </a:p>
                  </a:txBody>
                  <a:tcPr/>
                </a:tc>
                <a:extLst>
                  <a:ext uri="{0D108BD9-81ED-4DB2-BD59-A6C34878D82A}">
                    <a16:rowId xmlns:a16="http://schemas.microsoft.com/office/drawing/2014/main" val="45056112"/>
                  </a:ext>
                </a:extLst>
              </a:tr>
              <a:tr h="1019251">
                <a:tc>
                  <a:txBody>
                    <a:bodyPr/>
                    <a:lstStyle/>
                    <a:p>
                      <a:r>
                        <a:rPr lang="en-US" sz="1800" dirty="0"/>
                        <a:t>Channels work.</a:t>
                      </a:r>
                    </a:p>
                    <a:p>
                      <a:r>
                        <a:rPr lang="en-US" sz="1800" dirty="0"/>
                        <a:t>They</a:t>
                      </a:r>
                      <a:r>
                        <a:rPr lang="en-US" sz="1800" baseline="0" dirty="0"/>
                        <a:t> are the future of Bitcoin.</a:t>
                      </a:r>
                    </a:p>
                    <a:p>
                      <a:r>
                        <a:rPr lang="en-US" sz="1800" baseline="0" dirty="0"/>
                        <a:t>Problems will be solved with engineering.</a:t>
                      </a:r>
                      <a:endParaRPr lang="en-US" sz="1800" dirty="0"/>
                    </a:p>
                  </a:txBody>
                  <a:tcPr/>
                </a:tc>
                <a:tc>
                  <a:txBody>
                    <a:bodyPr/>
                    <a:lstStyle/>
                    <a:p>
                      <a:r>
                        <a:rPr lang="en-US" sz="1800" dirty="0"/>
                        <a:t>They don’t work.</a:t>
                      </a:r>
                    </a:p>
                    <a:p>
                      <a:r>
                        <a:rPr lang="en-US" sz="1800" dirty="0"/>
                        <a:t>It’s a waste of time.</a:t>
                      </a:r>
                    </a:p>
                    <a:p>
                      <a:r>
                        <a:rPr lang="en-US" sz="1800" dirty="0"/>
                        <a:t>The engineers are playing pretentious games.</a:t>
                      </a:r>
                    </a:p>
                  </a:txBody>
                  <a:tcPr/>
                </a:tc>
                <a:extLst>
                  <a:ext uri="{0D108BD9-81ED-4DB2-BD59-A6C34878D82A}">
                    <a16:rowId xmlns:a16="http://schemas.microsoft.com/office/drawing/2014/main" val="58821007"/>
                  </a:ext>
                </a:extLst>
              </a:tr>
              <a:tr h="1019251">
                <a:tc>
                  <a:txBody>
                    <a:bodyPr/>
                    <a:lstStyle/>
                    <a:p>
                      <a:r>
                        <a:rPr lang="en-US" sz="1800" dirty="0"/>
                        <a:t>Paul is here to FUD lightning and shill Drivechains.</a:t>
                      </a:r>
                    </a:p>
                    <a:p>
                      <a:r>
                        <a:rPr lang="en-US" sz="1800" dirty="0"/>
                        <a:t>Paul wants more clout / attention,</a:t>
                      </a:r>
                      <a:r>
                        <a:rPr lang="en-US" sz="1800" baseline="0" dirty="0"/>
                        <a:t> so that he can get Bip300 activated.</a:t>
                      </a:r>
                      <a:endParaRPr lang="en-US" sz="1800" dirty="0"/>
                    </a:p>
                  </a:txBody>
                  <a:tcPr/>
                </a:tc>
                <a:tc>
                  <a:txBody>
                    <a:bodyPr/>
                    <a:lstStyle/>
                    <a:p>
                      <a:r>
                        <a:rPr lang="en-US" sz="1800" dirty="0"/>
                        <a:t>Tidwell</a:t>
                      </a:r>
                      <a:r>
                        <a:rPr lang="en-US" sz="1800" baseline="0" dirty="0"/>
                        <a:t> had to practically drag me here, I have very little interest in doing this.</a:t>
                      </a:r>
                    </a:p>
                    <a:p>
                      <a:r>
                        <a:rPr lang="en-US" sz="1800" baseline="0" dirty="0"/>
                        <a:t>LN will collapse on its merits ; and Bip300 will activate without code changes to Core – and it will do so because of its affect on miner revenues, ASIC valuations, and UX. I don’t need anything from you.</a:t>
                      </a:r>
                      <a:endParaRPr lang="en-US" sz="1800" dirty="0"/>
                    </a:p>
                  </a:txBody>
                  <a:tcPr/>
                </a:tc>
                <a:extLst>
                  <a:ext uri="{0D108BD9-81ED-4DB2-BD59-A6C34878D82A}">
                    <a16:rowId xmlns:a16="http://schemas.microsoft.com/office/drawing/2014/main" val="2051853023"/>
                  </a:ext>
                </a:extLst>
              </a:tr>
              <a:tr h="1019251">
                <a:tc>
                  <a:txBody>
                    <a:bodyPr/>
                    <a:lstStyle/>
                    <a:p>
                      <a:r>
                        <a:rPr lang="en-US" sz="1800" dirty="0"/>
                        <a:t>Everyone just can’t be wrong!</a:t>
                      </a:r>
                    </a:p>
                    <a:p>
                      <a:endParaRPr lang="en-US" sz="1800" dirty="0"/>
                    </a:p>
                    <a:p>
                      <a:r>
                        <a:rPr lang="en-US" sz="1800" dirty="0"/>
                        <a:t>Lightning has all these smart and nice people.</a:t>
                      </a:r>
                    </a:p>
                    <a:p>
                      <a:endParaRPr lang="en-US" sz="1800" dirty="0"/>
                    </a:p>
                    <a:p>
                      <a:r>
                        <a:rPr lang="en-US" sz="1800" dirty="0"/>
                        <a:t>Is Paul really smarter than everyone in lightning? Probably not.</a:t>
                      </a:r>
                    </a:p>
                  </a:txBody>
                  <a:tcPr/>
                </a:tc>
                <a:tc>
                  <a:txBody>
                    <a:bodyPr/>
                    <a:lstStyle/>
                    <a:p>
                      <a:r>
                        <a:rPr lang="en-US" sz="1800" dirty="0"/>
                        <a:t>LN</a:t>
                      </a:r>
                      <a:r>
                        <a:rPr lang="en-US" sz="1800" baseline="0" dirty="0"/>
                        <a:t> came from the Blocksize war and is inherently propaganda. It will never shed this baggage.</a:t>
                      </a:r>
                    </a:p>
                    <a:p>
                      <a:r>
                        <a:rPr lang="en-US" sz="1800" baseline="0" dirty="0"/>
                        <a:t>People are emotionally unwilling to admit they are wrong. Leading to peer pressure.</a:t>
                      </a:r>
                    </a:p>
                    <a:p>
                      <a:r>
                        <a:rPr lang="en-US" sz="1800" baseline="0" dirty="0"/>
                        <a:t>Groupthink/ cults are common.</a:t>
                      </a:r>
                    </a:p>
                    <a:p>
                      <a:r>
                        <a:rPr lang="en-US" sz="1800" baseline="0" dirty="0"/>
                        <a:t>The prestige economy / funding bias exacerbates this.</a:t>
                      </a:r>
                      <a:endParaRPr lang="en-US" sz="1800" dirty="0"/>
                    </a:p>
                  </a:txBody>
                  <a:tcPr/>
                </a:tc>
                <a:extLst>
                  <a:ext uri="{0D108BD9-81ED-4DB2-BD59-A6C34878D82A}">
                    <a16:rowId xmlns:a16="http://schemas.microsoft.com/office/drawing/2014/main" val="2757632545"/>
                  </a:ext>
                </a:extLst>
              </a:tr>
              <a:tr h="1019251">
                <a:tc>
                  <a:txBody>
                    <a:bodyPr/>
                    <a:lstStyle/>
                    <a:p>
                      <a:r>
                        <a:rPr lang="en-US" sz="2000" dirty="0"/>
                        <a:t>Paul did invent his own Lightning Technology in 2016 – his knowledge is now </a:t>
                      </a:r>
                      <a:r>
                        <a:rPr lang="en-US" sz="2000" i="1" u="sng" dirty="0"/>
                        <a:t>old</a:t>
                      </a:r>
                      <a:r>
                        <a:rPr lang="en-US" sz="2000" i="0" u="none" dirty="0"/>
                        <a:t> and</a:t>
                      </a:r>
                      <a:r>
                        <a:rPr lang="en-US" sz="2000" dirty="0"/>
                        <a:t> </a:t>
                      </a:r>
                      <a:r>
                        <a:rPr lang="en-US" sz="2000" i="1" u="sng" dirty="0"/>
                        <a:t>obsolete</a:t>
                      </a:r>
                      <a:r>
                        <a:rPr lang="en-US" sz="2000" i="0" u="none" dirty="0"/>
                        <a:t>.</a:t>
                      </a:r>
                      <a:endParaRPr lang="en-US" sz="2000" dirty="0"/>
                    </a:p>
                  </a:txBody>
                  <a:tcPr/>
                </a:tc>
                <a:tc>
                  <a:txBody>
                    <a:bodyPr/>
                    <a:lstStyle/>
                    <a:p>
                      <a:r>
                        <a:rPr lang="en-US" sz="2000" dirty="0"/>
                        <a:t>I was </a:t>
                      </a:r>
                      <a:r>
                        <a:rPr lang="en-US" sz="2000" i="1" u="sng" dirty="0"/>
                        <a:t>early</a:t>
                      </a:r>
                      <a:r>
                        <a:rPr lang="en-US" sz="2000" i="0" u="none" dirty="0"/>
                        <a:t>.</a:t>
                      </a:r>
                    </a:p>
                    <a:p>
                      <a:r>
                        <a:rPr lang="en-US" sz="2000" i="0" u="none" dirty="0"/>
                        <a:t>Both times: in joining</a:t>
                      </a:r>
                      <a:r>
                        <a:rPr lang="en-US" sz="2000" i="0" u="none" baseline="0" dirty="0"/>
                        <a:t> LN; and in leaving.</a:t>
                      </a:r>
                    </a:p>
                    <a:p>
                      <a:r>
                        <a:rPr lang="en-US" sz="2000" i="0" u="none" baseline="0" dirty="0"/>
                        <a:t>You’ll be joining me eventually.</a:t>
                      </a:r>
                      <a:endParaRPr lang="en-US" sz="2000" i="1" u="sng" dirty="0"/>
                    </a:p>
                  </a:txBody>
                  <a:tcPr/>
                </a:tc>
                <a:extLst>
                  <a:ext uri="{0D108BD9-81ED-4DB2-BD59-A6C34878D82A}">
                    <a16:rowId xmlns:a16="http://schemas.microsoft.com/office/drawing/2014/main" val="680847002"/>
                  </a:ext>
                </a:extLst>
              </a:tr>
            </a:tbl>
          </a:graphicData>
        </a:graphic>
      </p:graphicFrame>
    </p:spTree>
    <p:extLst>
      <p:ext uri="{BB962C8B-B14F-4D97-AF65-F5344CB8AC3E}">
        <p14:creationId xmlns:p14="http://schemas.microsoft.com/office/powerpoint/2010/main" val="595762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90B1-5BFA-F2CB-3087-9210493A9462}"/>
              </a:ext>
            </a:extLst>
          </p:cNvPr>
          <p:cNvSpPr>
            <a:spLocks noGrp="1"/>
          </p:cNvSpPr>
          <p:nvPr>
            <p:ph type="title"/>
          </p:nvPr>
        </p:nvSpPr>
        <p:spPr/>
        <p:txBody>
          <a:bodyPr/>
          <a:lstStyle/>
          <a:p>
            <a:pPr algn="ctr"/>
            <a:r>
              <a:rPr lang="en-US" dirty="0"/>
              <a:t>Question Time</a:t>
            </a:r>
          </a:p>
        </p:txBody>
      </p:sp>
      <p:sp>
        <p:nvSpPr>
          <p:cNvPr id="3" name="Content Placeholder 2">
            <a:extLst>
              <a:ext uri="{FF2B5EF4-FFF2-40B4-BE49-F238E27FC236}">
                <a16:creationId xmlns:a16="http://schemas.microsoft.com/office/drawing/2014/main" id="{9C363A11-B447-83BA-7A92-77808E655200}"/>
              </a:ext>
            </a:extLst>
          </p:cNvPr>
          <p:cNvSpPr>
            <a:spLocks noGrp="1"/>
          </p:cNvSpPr>
          <p:nvPr>
            <p:ph idx="1"/>
          </p:nvPr>
        </p:nvSpPr>
        <p:spPr>
          <a:xfrm>
            <a:off x="838200" y="2771336"/>
            <a:ext cx="10515600" cy="1026942"/>
          </a:xfrm>
        </p:spPr>
        <p:txBody>
          <a:bodyPr/>
          <a:lstStyle/>
          <a:p>
            <a:r>
              <a:rPr lang="en-US" dirty="0"/>
              <a:t>I’m making myself vulnerable – by leaving plenty of time for questions.</a:t>
            </a:r>
          </a:p>
        </p:txBody>
      </p:sp>
    </p:spTree>
    <p:extLst>
      <p:ext uri="{BB962C8B-B14F-4D97-AF65-F5344CB8AC3E}">
        <p14:creationId xmlns:p14="http://schemas.microsoft.com/office/powerpoint/2010/main" val="2501855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1015</TotalTime>
  <Words>2400</Words>
  <Application>Microsoft Office PowerPoint</Application>
  <PresentationFormat>Widescreen</PresentationFormat>
  <Paragraphs>165</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The Case Against Lightning</vt:lpstr>
      <vt:lpstr>Overview</vt:lpstr>
      <vt:lpstr>In A Nutshell</vt:lpstr>
      <vt:lpstr>My Lightning Timeline</vt:lpstr>
      <vt:lpstr>What is Lightning?</vt:lpstr>
      <vt:lpstr>The Channel Idea &amp; the HTLC Idea Both Don’t Work</vt:lpstr>
      <vt:lpstr>Channels</vt:lpstr>
      <vt:lpstr>Do channel factories help? No</vt:lpstr>
      <vt:lpstr>HTLCs</vt:lpstr>
      <vt:lpstr>Don’t Take My Word For It</vt:lpstr>
      <vt:lpstr>Other People Have Made Similar Lists</vt:lpstr>
      <vt:lpstr>t.me/LightningFantasy</vt:lpstr>
      <vt:lpstr>PowerPoint Presentation</vt:lpstr>
      <vt:lpstr>A Tweet</vt:lpstr>
      <vt:lpstr>Some Other Points (Quickly I Hope)….</vt:lpstr>
      <vt:lpstr>Lightning Derangement Syndrome</vt:lpstr>
      <vt:lpstr>Custodial Lightning</vt:lpstr>
      <vt:lpstr>Types of Problems</vt:lpstr>
      <vt:lpstr>The Appearance of Success</vt:lpstr>
      <vt:lpstr>Simulation</vt:lpstr>
      <vt:lpstr>“But -- users don’t want to use Bitcoin to transact. They use it as a store of v--”</vt:lpstr>
      <vt:lpstr>Make Your Choice</vt:lpstr>
      <vt:lpstr>Question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Sztorc</dc:creator>
  <cp:lastModifiedBy>Paul Sztorc</cp:lastModifiedBy>
  <cp:revision>5</cp:revision>
  <dcterms:created xsi:type="dcterms:W3CDTF">2025-10-14T22:50:59Z</dcterms:created>
  <dcterms:modified xsi:type="dcterms:W3CDTF">2025-10-15T15:54:07Z</dcterms:modified>
</cp:coreProperties>
</file>